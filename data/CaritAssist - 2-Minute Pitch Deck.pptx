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us Jakarta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299313"/>
            <a:ext cx="762000" cy="47700"/>
          </a:xfrm>
          <a:prstGeom prst="roundRect">
            <a:avLst>
              <a:gd fmla="val 40000" name="adj"/>
            </a:avLst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967037"/>
            <a:ext cx="1143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CaritAs</a:t>
            </a: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789908"/>
            <a:ext cx="952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support in Lower Franconia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688750" y="1951825"/>
            <a:ext cx="500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CARITAS UNTERFRANKEN</a:t>
            </a:r>
            <a:endParaRPr sz="2400"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7212" l="12986" r="11119" t="11658"/>
          <a:stretch/>
        </p:blipFill>
        <p:spPr>
          <a:xfrm>
            <a:off x="762000" y="1751725"/>
            <a:ext cx="691225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890837"/>
            <a:ext cx="3505200" cy="2047875"/>
          </a:xfrm>
          <a:prstGeom prst="roundRect">
            <a:avLst>
              <a:gd fmla="val 74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343400" y="2890837"/>
            <a:ext cx="3505200" cy="2047875"/>
          </a:xfrm>
          <a:prstGeom prst="roundRect">
            <a:avLst>
              <a:gd fmla="val 74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077200" y="2890837"/>
            <a:ext cx="3505200" cy="2047875"/>
          </a:xfrm>
          <a:prstGeom prst="roundRect">
            <a:avLst>
              <a:gd fmla="val 744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09600" y="492918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2890837"/>
            <a:ext cx="3505200" cy="38100"/>
          </a:xfrm>
          <a:prstGeom prst="rect">
            <a:avLst/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105275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492918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43400" y="2890837"/>
            <a:ext cx="3505200" cy="38100"/>
          </a:xfrm>
          <a:prstGeom prst="rect">
            <a:avLst/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839075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8077200" y="492918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8077200" y="2890837"/>
            <a:ext cx="3505200" cy="38100"/>
          </a:xfrm>
          <a:prstGeom prst="rect">
            <a:avLst/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077200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1572875" y="2890837"/>
            <a:ext cx="9525" cy="2047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2337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23373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2337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19125" y="564250"/>
            <a:ext cx="11582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 sz="1900"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1125250"/>
            <a:ext cx="11582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Finding RELIABLE help in crisis is hard.</a:t>
            </a:r>
            <a:endParaRPr b="1" sz="5900">
              <a:solidFill>
                <a:srgbClr val="11182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47725" y="365283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49 Service Fields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3967162"/>
            <a:ext cx="3124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Overwhelming structure confuses citizens searching for fast support.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81525" y="3652837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105 Local Offices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581525" y="3967162"/>
            <a:ext cx="31242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to figure out which specific local office handles which district.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315325" y="3652837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Help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15325" y="3967162"/>
            <a:ext cx="31242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People in distress need a direct phone number, not a directory search.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6425083" y="2776825"/>
            <a:ext cx="5157300" cy="3429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09625" y="2862550"/>
            <a:ext cx="5434500" cy="1533600"/>
          </a:xfrm>
          <a:prstGeom prst="roundRect">
            <a:avLst>
              <a:gd fmla="val 9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25" y="4586575"/>
            <a:ext cx="5434500" cy="1533600"/>
          </a:xfrm>
          <a:prstGeom prst="roundRect">
            <a:avLst>
              <a:gd fmla="val 993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10862" y="3689966"/>
            <a:ext cx="585625" cy="66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50" y="31006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50" y="4824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70900" y="439700"/>
            <a:ext cx="11582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SOLUTION TODAY</a:t>
            </a:r>
            <a:endParaRPr sz="1900"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837250"/>
            <a:ext cx="1158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can fix that.</a:t>
            </a:r>
            <a:endParaRPr sz="2700"/>
          </a:p>
        </p:txBody>
      </p:sp>
      <p:sp>
        <p:nvSpPr>
          <p:cNvPr id="131" name="Google Shape;131;p15"/>
          <p:cNvSpPr txBox="1"/>
          <p:nvPr/>
        </p:nvSpPr>
        <p:spPr>
          <a:xfrm>
            <a:off x="7559749" y="4405600"/>
            <a:ext cx="288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Caritas DB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625050" y="4824700"/>
            <a:ext cx="475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Information about centers from all 9 </a:t>
            </a:r>
            <a:r>
              <a:rPr lang="en-US" sz="1350">
                <a:solidFill>
                  <a:srgbClr val="6B72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districts in Lower Franconia - complete with department and contacts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7750" y="3424525"/>
            <a:ext cx="650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Great Natural Language Comprehension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750" y="3719800"/>
            <a:ext cx="5053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Speak</a:t>
            </a:r>
            <a:r>
              <a:rPr lang="en-US" sz="1350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 your preferred language - we’ll do the rest.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7750" y="5148550"/>
            <a:ext cx="650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Phone &amp; Office Contact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47750" y="5443825"/>
            <a:ext cx="505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Returns responsible contacts and phone numbers across Lower Franconia.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35650" y="1311175"/>
            <a:ext cx="1084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Introducing </a:t>
            </a:r>
            <a:r>
              <a:rPr lang="en-US" sz="3200">
                <a:solidFill>
                  <a:srgbClr val="E3000F"/>
                </a:solidFill>
                <a:latin typeface="Calibri"/>
                <a:ea typeface="Calibri"/>
                <a:cs typeface="Calibri"/>
                <a:sym typeface="Calibri"/>
              </a:rPr>
              <a:t>CaritAs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 - finding the right help for you.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609600" y="4081462"/>
            <a:ext cx="10972800" cy="1095300"/>
          </a:xfrm>
          <a:prstGeom prst="roundRect">
            <a:avLst>
              <a:gd fmla="val 12173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09600" y="4081462"/>
            <a:ext cx="57150" cy="1095375"/>
          </a:xfrm>
          <a:prstGeom prst="rect">
            <a:avLst/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50" y="48053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4805362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WORKS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Working</a:t>
            </a:r>
            <a:r>
              <a:rPr b="1" lang="en-US" sz="2400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76300" y="4271962"/>
            <a:ext cx="105346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30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CaritAssist Direct Result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33450" y="4510087"/>
            <a:ext cx="112585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Abteilung: Schuldnerberatung (Caritas Schweinfurt)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33375" y="4787137"/>
            <a:ext cx="1125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Telefon: 09721 71580  |           Markt 12, 97421 Schweinfurt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09525" y="1074162"/>
            <a:ext cx="10972800" cy="857400"/>
          </a:xfrm>
          <a:prstGeom prst="roundRect">
            <a:avLst>
              <a:gd fmla="val 1555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09525" y="1074162"/>
            <a:ext cx="57300" cy="857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513" y="1981194"/>
            <a:ext cx="27697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876225" y="1264662"/>
            <a:ext cx="1053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</a:t>
            </a:r>
            <a:r>
              <a:rPr b="1"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Voice </a:t>
            </a: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Input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33375" y="1502787"/>
            <a:ext cx="1125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"Ich habe Schulden, kann meine Miete nicht mehr zahlen und wohne in Schweinfurt."</a:t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 rotWithShape="1">
          <a:blip r:embed="rId6">
            <a:alphaModFix/>
          </a:blip>
          <a:srcRect b="7212" l="12986" r="11119" t="11658"/>
          <a:stretch/>
        </p:blipFill>
        <p:spPr>
          <a:xfrm>
            <a:off x="5507862" y="2493263"/>
            <a:ext cx="1176287" cy="12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7307300" y="2893028"/>
            <a:ext cx="313075" cy="41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4641700" y="2893028"/>
            <a:ext cx="313075" cy="41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300" y="2083962"/>
            <a:ext cx="3303117" cy="18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24950" y="2083962"/>
            <a:ext cx="3303117" cy="184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/>
          <p:nvPr/>
        </p:nvSpPr>
        <p:spPr>
          <a:xfrm>
            <a:off x="5048250" y="4309020"/>
            <a:ext cx="2095500" cy="485775"/>
          </a:xfrm>
          <a:prstGeom prst="roundRect">
            <a:avLst>
              <a:gd fmla="val 50000" name="adj"/>
            </a:avLst>
          </a:prstGeom>
          <a:solidFill>
            <a:srgbClr val="E30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8825" y="206305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4345781" y="2710755"/>
            <a:ext cx="3500437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CaritAssist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226468" y="3432720"/>
            <a:ext cx="773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Connecting people in distress to local Caritas support — instantly and accurately.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091112" y="4442370"/>
            <a:ext cx="2009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Vielen Dank! Q&amp;A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