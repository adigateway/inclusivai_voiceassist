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2" r:id="rId6"/>
    <p:sldId id="265" r:id="rId7"/>
    <p:sldId id="260" r:id="rId8"/>
  </p:sldIdLst>
  <p:sldSz cx="12192000" cy="6858000"/>
  <p:notesSz cx="6858000" cy="9144000"/>
  <p:embeddedFontLst>
    <p:embeddedFont>
      <p:font typeface="Plus Jakarta Sans" pitchFamily="2" charset="77"/>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1"/>
  </p:normalViewPr>
  <p:slideViewPr>
    <p:cSldViewPr snapToGrid="0">
      <p:cViewPr varScale="1">
        <p:scale>
          <a:sx n="103" d="100"/>
          <a:sy n="103" d="100"/>
        </p:scale>
        <p:origin x="80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DE"/>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[Speaker 1 · ~15 s]</a:t>
            </a:r>
          </a:p>
          <a:p>
            <a:r>
              <a:rPr dirty="0"/>
              <a:t>Hi, we are team CaritAssist. Our task from Caritas Würzburg: one simple question – 'I need help. Which Caritas service can support me, and why?' – answered by voice, in plain language.</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[Speaker 1 · ~30 s]</a:t>
            </a:r>
          </a:p>
          <a:p>
            <a:r>
              <a:t>Caritas in Lower Franconia is not one office. It is 33 different services and 115 local offices across 9 districts, run by Caritas and partner organisations. Someone in distress – with debts, an addiction in the family or an unplanned pregnancy – has to work out which service fits and which office is responsible for their town. That takes time they don't have. They need a phone number, not a directory.</a:t>
            </a: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[Speaker 2 · ~25 s]</a:t>
            </a:r>
          </a:p>
          <a:p>
            <a:r>
              <a:rPr dirty="0"/>
              <a:t>CaritAssist fixes that. You simply talk to it like to a person at a reception desk. It understands what you mean, picks the right Caritas service, and gives you the responsible office in your district – with phone number and address. Behind it is a structured Caritas database we built ourselves.</a:t>
            </a:r>
          </a:p>
        </p:txBody>
      </p:sp>
      <p:sp>
        <p:nvSpPr>
          <p:cNvPr id="121" name="Google Shape;12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[Speaker 3 · ~30 s]</a:t>
            </a:r>
          </a:p>
          <a:p>
            <a:r>
              <a:rPr dirty="0"/>
              <a:t>Here is a real example. Someone says: 'I have so many debts and don't know what to do. I live in Schweinfurt.' In about a second CaritAssist answers – out loud – with debt counselling, the responsible office in Schweinfurt, its phone number and address. This is the actual output of our system, straight from the database.</a:t>
            </a:r>
          </a:p>
        </p:txBody>
      </p:sp>
      <p:sp>
        <p:nvSpPr>
          <p:cNvPr id="140" name="Google Shape;14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DE"/>
          </a:p>
        </p:txBody>
      </p:sp>
      <p:sp>
        <p:nvSpPr>
          <p:cNvPr id="3" name="Notes Placeholder 2"/>
          <p:cNvSpPr>
            <a:spLocks noGrp="1"/>
          </p:cNvSpPr>
          <p:nvPr>
            <p:ph type="body" idx="1"/>
          </p:nvPr>
        </p:nvSpPr>
        <p:spPr/>
        <p:txBody>
          <a:bodyPr/>
          <a:lstStyle/>
          <a:p>
            <a:r>
              <a:t>[Speaker 3 · ~35 s]</a:t>
            </a:r>
          </a:p>
          <a:p>
            <a:r>
              <a:t>Under the hood it is five steps. One: the browser turns speech into text. Two: a safety check – crisis words like suicide or violence get emergency numbers immediately, before any AI. Three: the language model picks one of our 32 services, or asks one short question if it really can't decide. Four: our own code – not the AI – looks up the office in the user's district, so it can never invent a phone number. Five: the answer appears and is read out by a natural voice.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DE"/>
          </a:p>
        </p:txBody>
      </p:sp>
      <p:sp>
        <p:nvSpPr>
          <p:cNvPr id="3" name="Notes Placeholder 2"/>
          <p:cNvSpPr>
            <a:spLocks noGrp="1"/>
          </p:cNvSpPr>
          <p:nvPr>
            <p:ph type="body" idx="1"/>
          </p:nvPr>
        </p:nvSpPr>
        <p:spPr/>
        <p:txBody>
          <a:bodyPr/>
          <a:lstStyle/>
          <a:p>
            <a:r>
              <a:t>[Speaker 5 · ~40 s]</a:t>
            </a:r>
          </a:p>
          <a:p>
            <a:r>
              <a:t>Not everything worked at first. Our local Whisper speech recognition misheard German, so we switched to the browser's recognition. A small local AI only got 75% right, so we moved to a free hosted model with a backup key and an offline fallback. The website data was messy, so we wrote cleaning rules. And the natural voice was sometimes very slow, so we stream it and fall back to an offline voice in under a second. We were five: two on the frontend, two on backend and the AI, one on voice and this pitch – all in one shared GitHub repository.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[Speaker 5 · ~15 s]</a:t>
            </a:r>
          </a:p>
          <a:p>
            <a:r>
              <a:rPr dirty="0"/>
              <a:t>CaritAssist connects people in distress to the right local Caritas support – by voice, in seconds, and with real contact details. </a:t>
            </a:r>
            <a:r>
              <a:rPr dirty="0" err="1"/>
              <a:t>Vielen</a:t>
            </a:r>
            <a:r>
              <a:rPr dirty="0"/>
              <a:t> Dank – we're happy to take your questions.</a:t>
            </a:r>
          </a:p>
        </p:txBody>
      </p:sp>
      <p:sp>
        <p:nvSpPr>
          <p:cNvPr id="163" name="Google Shape;1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txBody>
          <a:bodyPr/>
          <a:lstStyle/>
          <a:p>
            <a:endParaRPr lang="en-DE"/>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83"/>
        <p:cNvGrpSpPr/>
        <p:nvPr/>
      </p:nvGrpSpPr>
      <p:grpSpPr>
        <a:xfrm>
          <a:off x="0" y="0"/>
          <a:ext cx="0" cy="0"/>
          <a:chOff x="0" y="0"/>
          <a:chExt cx="0" cy="0"/>
        </a:xfrm>
      </p:grpSpPr>
      <p:sp>
        <p:nvSpPr>
          <p:cNvPr id="84" name="Google Shape;84;p13"/>
          <p:cNvSpPr/>
          <p:nvPr/>
        </p:nvSpPr>
        <p:spPr>
          <a:xfrm>
            <a:off x="762000" y="5299313"/>
            <a:ext cx="762000" cy="47700"/>
          </a:xfrm>
          <a:prstGeom prst="roundRect">
            <a:avLst>
              <a:gd name="adj" fmla="val 40000"/>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txBox="1"/>
          <p:nvPr/>
        </p:nvSpPr>
        <p:spPr>
          <a:xfrm>
            <a:off x="762000" y="2967037"/>
            <a:ext cx="11430000" cy="7389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1" i="0" u="none" strike="noStrike" cap="none" dirty="0">
                <a:solidFill>
                  <a:srgbClr val="E3000F"/>
                </a:solidFill>
                <a:latin typeface="Plus Jakarta Sans"/>
                <a:ea typeface="Plus Jakarta Sans"/>
                <a:cs typeface="Plus Jakarta Sans"/>
                <a:sym typeface="Plus Jakarta Sans"/>
              </a:rPr>
              <a:t>CaritAs</a:t>
            </a:r>
            <a:r>
              <a:rPr lang="en-US" sz="4800" b="1" i="0" u="none" strike="noStrike" cap="none" dirty="0">
                <a:solidFill>
                  <a:srgbClr val="FFFFFF"/>
                </a:solidFill>
                <a:latin typeface="Plus Jakarta Sans"/>
                <a:ea typeface="Plus Jakarta Sans"/>
                <a:cs typeface="Plus Jakarta Sans"/>
                <a:sym typeface="Plus Jakarta Sans"/>
              </a:rPr>
              <a:t>sist</a:t>
            </a:r>
            <a:endParaRPr dirty="0"/>
          </a:p>
        </p:txBody>
      </p:sp>
      <p:sp>
        <p:nvSpPr>
          <p:cNvPr id="86" name="Google Shape;86;p13"/>
          <p:cNvSpPr txBox="1"/>
          <p:nvPr/>
        </p:nvSpPr>
        <p:spPr>
          <a:xfrm>
            <a:off x="762000" y="3789908"/>
            <a:ext cx="9525000" cy="277200"/>
          </a:xfrm>
          <a:prstGeom prst="rect">
            <a:avLst/>
          </a:prstGeom>
          <a:noFill/>
          <a:ln>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sz="2100">
                <a:solidFill>
                  <a:schemeClr val="lt1"/>
                </a:solidFill>
                <a:latin typeface="Plus Jakarta Sans"/>
                <a:ea typeface="Plus Jakarta Sans"/>
                <a:cs typeface="Plus Jakarta Sans"/>
                <a:sym typeface="Plus Jakarta Sans"/>
              </a:rPr>
              <a:t>Your support in Lower Franconia</a:t>
            </a:r>
            <a:endParaRPr sz="1700">
              <a:solidFill>
                <a:schemeClr val="lt1"/>
              </a:solidFill>
            </a:endParaRPr>
          </a:p>
        </p:txBody>
      </p:sp>
      <p:sp>
        <p:nvSpPr>
          <p:cNvPr id="87" name="Google Shape;87;p13"/>
          <p:cNvSpPr txBox="1"/>
          <p:nvPr/>
        </p:nvSpPr>
        <p:spPr>
          <a:xfrm>
            <a:off x="1688750" y="1951825"/>
            <a:ext cx="5000700" cy="338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00" b="1" i="0" u="none" strike="noStrike" cap="none">
                <a:solidFill>
                  <a:srgbClr val="E3000F"/>
                </a:solidFill>
                <a:latin typeface="Plus Jakarta Sans"/>
                <a:ea typeface="Plus Jakarta Sans"/>
                <a:cs typeface="Plus Jakarta Sans"/>
                <a:sym typeface="Plus Jakarta Sans"/>
              </a:rPr>
              <a:t>CARITAS UNTERFRANKEN</a:t>
            </a:r>
            <a:endParaRPr sz="2400"/>
          </a:p>
        </p:txBody>
      </p:sp>
      <p:pic>
        <p:nvPicPr>
          <p:cNvPr id="88" name="Google Shape;88;p13"/>
          <p:cNvPicPr preferRelativeResize="0"/>
          <p:nvPr/>
        </p:nvPicPr>
        <p:blipFill rotWithShape="1">
          <a:blip r:embed="rId3">
            <a:alphaModFix/>
          </a:blip>
          <a:srcRect l="12986" t="11658" r="11119" b="7212"/>
          <a:stretch/>
        </p:blipFill>
        <p:spPr>
          <a:xfrm>
            <a:off x="762000" y="1751725"/>
            <a:ext cx="691225" cy="738900"/>
          </a:xfrm>
          <a:prstGeom prst="rect">
            <a:avLst/>
          </a:prstGeom>
          <a:noFill/>
          <a:ln>
            <a:noFill/>
          </a:ln>
        </p:spPr>
      </p:pic>
      <p:pic>
        <p:nvPicPr>
          <p:cNvPr id="3" name="Picture 2">
            <a:extLst>
              <a:ext uri="{FF2B5EF4-FFF2-40B4-BE49-F238E27FC236}">
                <a16:creationId xmlns:a16="http://schemas.microsoft.com/office/drawing/2014/main" id="{A4A5B8F3-019D-0B62-DCB7-4A190F4F2901}"/>
              </a:ext>
            </a:extLst>
          </p:cNvPr>
          <p:cNvPicPr>
            <a:picLocks noChangeAspect="1"/>
          </p:cNvPicPr>
          <p:nvPr/>
        </p:nvPicPr>
        <p:blipFill>
          <a:blip r:embed="rId4"/>
          <a:stretch>
            <a:fillRect/>
          </a:stretch>
        </p:blipFill>
        <p:spPr>
          <a:xfrm>
            <a:off x="6477000" y="1516355"/>
            <a:ext cx="4614924" cy="36402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
        <p:cNvGrpSpPr/>
        <p:nvPr/>
      </p:nvGrpSpPr>
      <p:grpSpPr>
        <a:xfrm>
          <a:off x="0" y="0"/>
          <a:ext cx="0" cy="0"/>
          <a:chOff x="0" y="0"/>
          <a:chExt cx="0" cy="0"/>
        </a:xfrm>
      </p:grpSpPr>
      <p:sp>
        <p:nvSpPr>
          <p:cNvPr id="93" name="Google Shape;93;p14"/>
          <p:cNvSpPr/>
          <p:nvPr/>
        </p:nvSpPr>
        <p:spPr>
          <a:xfrm>
            <a:off x="609600" y="2890837"/>
            <a:ext cx="3505200" cy="2047875"/>
          </a:xfrm>
          <a:prstGeom prst="roundRect">
            <a:avLst>
              <a:gd name="adj" fmla="val 7441"/>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p:nvPr/>
        </p:nvSpPr>
        <p:spPr>
          <a:xfrm>
            <a:off x="4343400" y="2890837"/>
            <a:ext cx="3505200" cy="2047875"/>
          </a:xfrm>
          <a:prstGeom prst="roundRect">
            <a:avLst>
              <a:gd name="adj" fmla="val 7441"/>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4"/>
          <p:cNvSpPr/>
          <p:nvPr/>
        </p:nvSpPr>
        <p:spPr>
          <a:xfrm>
            <a:off x="8077200" y="2890837"/>
            <a:ext cx="3505200" cy="2047875"/>
          </a:xfrm>
          <a:prstGeom prst="roundRect">
            <a:avLst>
              <a:gd name="adj" fmla="val 7441"/>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4"/>
          <p:cNvSpPr/>
          <p:nvPr/>
        </p:nvSpPr>
        <p:spPr>
          <a:xfrm>
            <a:off x="609600" y="4929187"/>
            <a:ext cx="35052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p:nvPr/>
        </p:nvSpPr>
        <p:spPr>
          <a:xfrm>
            <a:off x="609600" y="2890837"/>
            <a:ext cx="3505200" cy="38100"/>
          </a:xfrm>
          <a:prstGeom prst="rect">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p:nvPr/>
        </p:nvSpPr>
        <p:spPr>
          <a:xfrm>
            <a:off x="609600"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p:nvPr/>
        </p:nvSpPr>
        <p:spPr>
          <a:xfrm>
            <a:off x="4105275"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p:nvPr/>
        </p:nvSpPr>
        <p:spPr>
          <a:xfrm>
            <a:off x="4343400" y="4929187"/>
            <a:ext cx="35052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p:nvPr/>
        </p:nvSpPr>
        <p:spPr>
          <a:xfrm>
            <a:off x="4343400" y="2890837"/>
            <a:ext cx="3505200" cy="38100"/>
          </a:xfrm>
          <a:prstGeom prst="rect">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4343400"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7839075"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8077200" y="4929187"/>
            <a:ext cx="35052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8077200" y="2890837"/>
            <a:ext cx="3505200" cy="38100"/>
          </a:xfrm>
          <a:prstGeom prst="rect">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8077200"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4"/>
          <p:cNvSpPr/>
          <p:nvPr/>
        </p:nvSpPr>
        <p:spPr>
          <a:xfrm>
            <a:off x="11572875" y="2890837"/>
            <a:ext cx="9525" cy="204787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8" name="Google Shape;108;p14" descr="image.png"/>
          <p:cNvPicPr preferRelativeResize="0"/>
          <p:nvPr/>
        </p:nvPicPr>
        <p:blipFill rotWithShape="1">
          <a:blip r:embed="rId3">
            <a:alphaModFix/>
          </a:blip>
          <a:srcRect/>
          <a:stretch/>
        </p:blipFill>
        <p:spPr>
          <a:xfrm>
            <a:off x="847725" y="3233737"/>
            <a:ext cx="304800" cy="266700"/>
          </a:xfrm>
          <a:prstGeom prst="rect">
            <a:avLst/>
          </a:prstGeom>
          <a:noFill/>
          <a:ln>
            <a:noFill/>
          </a:ln>
        </p:spPr>
      </p:pic>
      <p:pic>
        <p:nvPicPr>
          <p:cNvPr id="109" name="Google Shape;109;p14" descr="image.png"/>
          <p:cNvPicPr preferRelativeResize="0"/>
          <p:nvPr/>
        </p:nvPicPr>
        <p:blipFill rotWithShape="1">
          <a:blip r:embed="rId4">
            <a:alphaModFix/>
          </a:blip>
          <a:srcRect/>
          <a:stretch/>
        </p:blipFill>
        <p:spPr>
          <a:xfrm>
            <a:off x="4581525" y="3233737"/>
            <a:ext cx="333375" cy="266700"/>
          </a:xfrm>
          <a:prstGeom prst="rect">
            <a:avLst/>
          </a:prstGeom>
          <a:noFill/>
          <a:ln>
            <a:noFill/>
          </a:ln>
        </p:spPr>
      </p:pic>
      <p:pic>
        <p:nvPicPr>
          <p:cNvPr id="110" name="Google Shape;110;p14" descr="image.png"/>
          <p:cNvPicPr preferRelativeResize="0"/>
          <p:nvPr/>
        </p:nvPicPr>
        <p:blipFill rotWithShape="1">
          <a:blip r:embed="rId5">
            <a:alphaModFix/>
          </a:blip>
          <a:srcRect/>
          <a:stretch/>
        </p:blipFill>
        <p:spPr>
          <a:xfrm>
            <a:off x="8315325" y="3233737"/>
            <a:ext cx="333375" cy="266700"/>
          </a:xfrm>
          <a:prstGeom prst="rect">
            <a:avLst/>
          </a:prstGeom>
          <a:noFill/>
          <a:ln>
            <a:noFill/>
          </a:ln>
        </p:spPr>
      </p:pic>
      <p:sp>
        <p:nvSpPr>
          <p:cNvPr id="111" name="Google Shape;111;p14"/>
          <p:cNvSpPr txBox="1"/>
          <p:nvPr/>
        </p:nvSpPr>
        <p:spPr>
          <a:xfrm>
            <a:off x="612648" y="502920"/>
            <a:ext cx="11582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50" b="1" i="0" u="none" strike="noStrike" cap="none">
                <a:solidFill>
                  <a:srgbClr val="E3000F"/>
                </a:solidFill>
                <a:latin typeface="Plus Jakarta Sans"/>
                <a:ea typeface="Plus Jakarta Sans"/>
                <a:cs typeface="Plus Jakarta Sans"/>
                <a:sym typeface="Plus Jakarta Sans"/>
              </a:rPr>
              <a:t>THE PROBLEM</a:t>
            </a:r>
            <a:endParaRPr sz="1900"/>
          </a:p>
        </p:txBody>
      </p:sp>
      <p:sp>
        <p:nvSpPr>
          <p:cNvPr id="112" name="Google Shape;112;p14"/>
          <p:cNvSpPr txBox="1"/>
          <p:nvPr/>
        </p:nvSpPr>
        <p:spPr>
          <a:xfrm>
            <a:off x="612648" y="868680"/>
            <a:ext cx="1158240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500" b="1" dirty="0">
                <a:solidFill>
                  <a:srgbClr val="111827"/>
                </a:solidFill>
                <a:latin typeface="Plus Jakarta Sans"/>
                <a:ea typeface="Plus Jakarta Sans"/>
                <a:cs typeface="Plus Jakarta Sans"/>
                <a:sym typeface="Plus Jakarta Sans"/>
              </a:rPr>
              <a:t>Finding RELIABLE help in crisis is hard.</a:t>
            </a:r>
            <a:endParaRPr sz="5900" b="1" dirty="0">
              <a:solidFill>
                <a:srgbClr val="111827"/>
              </a:solidFill>
              <a:latin typeface="Plus Jakarta Sans"/>
              <a:ea typeface="Plus Jakarta Sans"/>
              <a:cs typeface="Plus Jakarta Sans"/>
              <a:sym typeface="Plus Jakarta Sans"/>
            </a:endParaRPr>
          </a:p>
        </p:txBody>
      </p:sp>
      <p:sp>
        <p:nvSpPr>
          <p:cNvPr id="113" name="Google Shape;113;p14"/>
          <p:cNvSpPr txBox="1"/>
          <p:nvPr/>
        </p:nvSpPr>
        <p:spPr>
          <a:xfrm>
            <a:off x="847725" y="3652837"/>
            <a:ext cx="3975496"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dirty="0">
                <a:solidFill>
                  <a:srgbClr val="111827"/>
                </a:solidFill>
                <a:latin typeface="Plus Jakarta Sans"/>
                <a:ea typeface="Plus Jakarta Sans"/>
                <a:cs typeface="Plus Jakarta Sans"/>
                <a:sym typeface="Plus Jakarta Sans"/>
              </a:rPr>
              <a:t>49</a:t>
            </a:r>
            <a:r>
              <a:rPr lang="en-US" sz="1500" b="1" i="0" u="none" strike="noStrike" cap="none" dirty="0">
                <a:solidFill>
                  <a:srgbClr val="111827"/>
                </a:solidFill>
                <a:latin typeface="Plus Jakarta Sans"/>
                <a:ea typeface="Plus Jakarta Sans"/>
                <a:cs typeface="Plus Jakarta Sans"/>
                <a:sym typeface="Plus Jakarta Sans"/>
              </a:rPr>
              <a:t> Services</a:t>
            </a:r>
            <a:endParaRPr dirty="0"/>
          </a:p>
        </p:txBody>
      </p:sp>
      <p:sp>
        <p:nvSpPr>
          <p:cNvPr id="114" name="Google Shape;114;p14"/>
          <p:cNvSpPr txBox="1"/>
          <p:nvPr/>
        </p:nvSpPr>
        <p:spPr>
          <a:xfrm>
            <a:off x="847725" y="3967162"/>
            <a:ext cx="31242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B5563"/>
                </a:solidFill>
                <a:latin typeface="Plus Jakarta Sans"/>
                <a:ea typeface="Plus Jakarta Sans"/>
                <a:cs typeface="Plus Jakarta Sans"/>
                <a:sym typeface="Plus Jakarta Sans"/>
              </a:rPr>
              <a:t>Debts, addiction, pregnancy, care, migration … it is hard to know which one fits you.</a:t>
            </a:r>
            <a:endParaRPr/>
          </a:p>
        </p:txBody>
      </p:sp>
      <p:sp>
        <p:nvSpPr>
          <p:cNvPr id="115" name="Google Shape;115;p14"/>
          <p:cNvSpPr txBox="1"/>
          <p:nvPr/>
        </p:nvSpPr>
        <p:spPr>
          <a:xfrm>
            <a:off x="4581525" y="3652837"/>
            <a:ext cx="3975496"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11827"/>
                </a:solidFill>
                <a:latin typeface="Plus Jakarta Sans"/>
                <a:ea typeface="Plus Jakarta Sans"/>
                <a:cs typeface="Plus Jakarta Sans"/>
                <a:sym typeface="Plus Jakarta Sans"/>
              </a:rPr>
              <a:t>115 Local Offices</a:t>
            </a:r>
            <a:endParaRPr/>
          </a:p>
        </p:txBody>
      </p:sp>
      <p:sp>
        <p:nvSpPr>
          <p:cNvPr id="116" name="Google Shape;116;p14"/>
          <p:cNvSpPr txBox="1"/>
          <p:nvPr/>
        </p:nvSpPr>
        <p:spPr>
          <a:xfrm>
            <a:off x="4581525" y="3967162"/>
            <a:ext cx="31242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B5563"/>
                </a:solidFill>
                <a:latin typeface="Plus Jakarta Sans"/>
                <a:ea typeface="Plus Jakarta Sans"/>
                <a:cs typeface="Plus Jakarta Sans"/>
                <a:sym typeface="Plus Jakarta Sans"/>
              </a:rPr>
              <a:t>Spread over 9 districts. Which office is responsible where you live?</a:t>
            </a:r>
            <a:endParaRPr/>
          </a:p>
        </p:txBody>
      </p:sp>
      <p:sp>
        <p:nvSpPr>
          <p:cNvPr id="117" name="Google Shape;117;p14"/>
          <p:cNvSpPr txBox="1"/>
          <p:nvPr/>
        </p:nvSpPr>
        <p:spPr>
          <a:xfrm>
            <a:off x="8315325" y="3652837"/>
            <a:ext cx="3876675"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11827"/>
                </a:solidFill>
                <a:latin typeface="Plus Jakarta Sans"/>
                <a:ea typeface="Plus Jakarta Sans"/>
                <a:cs typeface="Plus Jakarta Sans"/>
                <a:sym typeface="Plus Jakarta Sans"/>
              </a:rPr>
              <a:t>Delayed Help</a:t>
            </a:r>
            <a:endParaRPr/>
          </a:p>
        </p:txBody>
      </p:sp>
      <p:sp>
        <p:nvSpPr>
          <p:cNvPr id="118" name="Google Shape;118;p14"/>
          <p:cNvSpPr txBox="1"/>
          <p:nvPr/>
        </p:nvSpPr>
        <p:spPr>
          <a:xfrm>
            <a:off x="8315325" y="3967162"/>
            <a:ext cx="3124200" cy="657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B5563"/>
                </a:solidFill>
                <a:latin typeface="Plus Jakarta Sans"/>
                <a:ea typeface="Plus Jakarta Sans"/>
                <a:cs typeface="Plus Jakarta Sans"/>
                <a:sym typeface="Plus Jakarta Sans"/>
              </a:rPr>
              <a:t>People in distress need a direct phone number, not a directory search.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2"/>
        <p:cNvGrpSpPr/>
        <p:nvPr/>
      </p:nvGrpSpPr>
      <p:grpSpPr>
        <a:xfrm>
          <a:off x="0" y="0"/>
          <a:ext cx="0" cy="0"/>
          <a:chOff x="0" y="0"/>
          <a:chExt cx="0" cy="0"/>
        </a:xfrm>
      </p:grpSpPr>
      <p:sp>
        <p:nvSpPr>
          <p:cNvPr id="123" name="Google Shape;123;p15"/>
          <p:cNvSpPr/>
          <p:nvPr/>
        </p:nvSpPr>
        <p:spPr>
          <a:xfrm>
            <a:off x="6425083" y="2776825"/>
            <a:ext cx="5157300" cy="3429000"/>
          </a:xfrm>
          <a:prstGeom prst="roundRect">
            <a:avLst>
              <a:gd name="adj" fmla="val 4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5"/>
          <p:cNvSpPr/>
          <p:nvPr/>
        </p:nvSpPr>
        <p:spPr>
          <a:xfrm>
            <a:off x="609625" y="2862550"/>
            <a:ext cx="5434500" cy="1533600"/>
          </a:xfrm>
          <a:prstGeom prst="roundRect">
            <a:avLst>
              <a:gd name="adj" fmla="val 9937"/>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p:nvPr/>
        </p:nvSpPr>
        <p:spPr>
          <a:xfrm>
            <a:off x="609625" y="4586575"/>
            <a:ext cx="5434500" cy="1533600"/>
          </a:xfrm>
          <a:prstGeom prst="roundRect">
            <a:avLst>
              <a:gd name="adj" fmla="val 9937"/>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6" name="Google Shape;126;p15" descr="image.png"/>
          <p:cNvPicPr preferRelativeResize="0"/>
          <p:nvPr/>
        </p:nvPicPr>
        <p:blipFill rotWithShape="1">
          <a:blip r:embed="rId3">
            <a:alphaModFix/>
          </a:blip>
          <a:srcRect/>
          <a:stretch/>
        </p:blipFill>
        <p:spPr>
          <a:xfrm>
            <a:off x="8710862" y="3689966"/>
            <a:ext cx="585625" cy="669275"/>
          </a:xfrm>
          <a:prstGeom prst="rect">
            <a:avLst/>
          </a:prstGeom>
          <a:noFill/>
          <a:ln>
            <a:noFill/>
          </a:ln>
        </p:spPr>
      </p:pic>
      <p:pic>
        <p:nvPicPr>
          <p:cNvPr id="127" name="Google Shape;127;p15" descr="image.png"/>
          <p:cNvPicPr preferRelativeResize="0"/>
          <p:nvPr/>
        </p:nvPicPr>
        <p:blipFill rotWithShape="1">
          <a:blip r:embed="rId4">
            <a:alphaModFix/>
          </a:blip>
          <a:srcRect/>
          <a:stretch/>
        </p:blipFill>
        <p:spPr>
          <a:xfrm>
            <a:off x="847750" y="3100675"/>
            <a:ext cx="228600" cy="228600"/>
          </a:xfrm>
          <a:prstGeom prst="rect">
            <a:avLst/>
          </a:prstGeom>
          <a:noFill/>
          <a:ln>
            <a:noFill/>
          </a:ln>
        </p:spPr>
      </p:pic>
      <p:pic>
        <p:nvPicPr>
          <p:cNvPr id="128" name="Google Shape;128;p15" descr="image.png"/>
          <p:cNvPicPr preferRelativeResize="0"/>
          <p:nvPr/>
        </p:nvPicPr>
        <p:blipFill rotWithShape="1">
          <a:blip r:embed="rId5">
            <a:alphaModFix/>
          </a:blip>
          <a:srcRect/>
          <a:stretch/>
        </p:blipFill>
        <p:spPr>
          <a:xfrm>
            <a:off x="847750" y="4824700"/>
            <a:ext cx="228600" cy="228600"/>
          </a:xfrm>
          <a:prstGeom prst="rect">
            <a:avLst/>
          </a:prstGeom>
          <a:noFill/>
          <a:ln>
            <a:noFill/>
          </a:ln>
        </p:spPr>
      </p:pic>
      <p:sp>
        <p:nvSpPr>
          <p:cNvPr id="129" name="Google Shape;129;p15"/>
          <p:cNvSpPr txBox="1"/>
          <p:nvPr/>
        </p:nvSpPr>
        <p:spPr>
          <a:xfrm>
            <a:off x="612648" y="502920"/>
            <a:ext cx="11582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50" b="1" i="0" u="none" strike="noStrike" cap="none">
                <a:solidFill>
                  <a:srgbClr val="E3000F"/>
                </a:solidFill>
                <a:latin typeface="Plus Jakarta Sans"/>
                <a:ea typeface="Plus Jakarta Sans"/>
                <a:cs typeface="Plus Jakarta Sans"/>
                <a:sym typeface="Plus Jakarta Sans"/>
              </a:rPr>
              <a:t>OUR SOLUTION TODAY</a:t>
            </a:r>
            <a:endParaRPr sz="1900"/>
          </a:p>
        </p:txBody>
      </p:sp>
      <p:sp>
        <p:nvSpPr>
          <p:cNvPr id="130" name="Google Shape;130;p15"/>
          <p:cNvSpPr txBox="1"/>
          <p:nvPr/>
        </p:nvSpPr>
        <p:spPr>
          <a:xfrm>
            <a:off x="612648" y="868680"/>
            <a:ext cx="1158240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500" b="1">
                <a:solidFill>
                  <a:srgbClr val="111827"/>
                </a:solidFill>
                <a:latin typeface="Plus Jakarta Sans"/>
                <a:ea typeface="Plus Jakarta Sans"/>
                <a:cs typeface="Plus Jakarta Sans"/>
                <a:sym typeface="Plus Jakarta Sans"/>
              </a:rPr>
              <a:t>We can fix that.</a:t>
            </a:r>
            <a:endParaRPr sz="2700"/>
          </a:p>
        </p:txBody>
      </p:sp>
      <p:sp>
        <p:nvSpPr>
          <p:cNvPr id="131" name="Google Shape;131;p15"/>
          <p:cNvSpPr txBox="1"/>
          <p:nvPr/>
        </p:nvSpPr>
        <p:spPr>
          <a:xfrm>
            <a:off x="7559749" y="4405600"/>
            <a:ext cx="2887800" cy="254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1" i="0" u="none" strike="noStrike" cap="none">
                <a:solidFill>
                  <a:srgbClr val="111827"/>
                </a:solidFill>
                <a:latin typeface="Plus Jakarta Sans"/>
                <a:ea typeface="Plus Jakarta Sans"/>
                <a:cs typeface="Plus Jakarta Sans"/>
                <a:sym typeface="Plus Jakarta Sans"/>
              </a:rPr>
              <a:t>Structured Caritas DB</a:t>
            </a:r>
            <a:endParaRPr/>
          </a:p>
        </p:txBody>
      </p:sp>
      <p:sp>
        <p:nvSpPr>
          <p:cNvPr id="132" name="Google Shape;132;p15"/>
          <p:cNvSpPr txBox="1"/>
          <p:nvPr/>
        </p:nvSpPr>
        <p:spPr>
          <a:xfrm>
            <a:off x="6625050" y="4824700"/>
            <a:ext cx="47574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dirty="0">
                <a:solidFill>
                  <a:srgbClr val="6B7280"/>
                </a:solidFill>
                <a:latin typeface="Plus Jakarta Sans"/>
                <a:ea typeface="Plus Jakarta Sans"/>
                <a:cs typeface="Plus Jakarta Sans"/>
                <a:sym typeface="Plus Jakarta Sans"/>
              </a:rPr>
              <a:t>49 services and 115 offices from all 9 districts of Lower Franconia – with contacts.</a:t>
            </a:r>
            <a:endParaRPr dirty="0"/>
          </a:p>
        </p:txBody>
      </p:sp>
      <p:sp>
        <p:nvSpPr>
          <p:cNvPr id="133" name="Google Shape;133;p15"/>
          <p:cNvSpPr txBox="1"/>
          <p:nvPr/>
        </p:nvSpPr>
        <p:spPr>
          <a:xfrm>
            <a:off x="847750" y="3424525"/>
            <a:ext cx="6507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a:solidFill>
                  <a:srgbClr val="111827"/>
                </a:solidFill>
                <a:latin typeface="Plus Jakarta Sans"/>
                <a:ea typeface="Plus Jakarta Sans"/>
                <a:cs typeface="Plus Jakarta Sans"/>
                <a:sym typeface="Plus Jakarta Sans"/>
              </a:rPr>
              <a:t>Understands Everyday Speech</a:t>
            </a:r>
            <a:endParaRPr/>
          </a:p>
        </p:txBody>
      </p:sp>
      <p:sp>
        <p:nvSpPr>
          <p:cNvPr id="134" name="Google Shape;134;p15"/>
          <p:cNvSpPr txBox="1"/>
          <p:nvPr/>
        </p:nvSpPr>
        <p:spPr>
          <a:xfrm>
            <a:off x="847750" y="3719800"/>
            <a:ext cx="50535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a:solidFill>
                  <a:srgbClr val="4B5563"/>
                </a:solidFill>
                <a:latin typeface="Plus Jakarta Sans"/>
                <a:ea typeface="Plus Jakarta Sans"/>
                <a:cs typeface="Plus Jakarta Sans"/>
                <a:sym typeface="Plus Jakarta Sans"/>
              </a:rPr>
              <a:t>Speak naturally in German or English – it asks back if needed.</a:t>
            </a:r>
            <a:endParaRPr/>
          </a:p>
        </p:txBody>
      </p:sp>
      <p:sp>
        <p:nvSpPr>
          <p:cNvPr id="135" name="Google Shape;135;p15"/>
          <p:cNvSpPr txBox="1"/>
          <p:nvPr/>
        </p:nvSpPr>
        <p:spPr>
          <a:xfrm>
            <a:off x="847750" y="5148550"/>
            <a:ext cx="6507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111827"/>
                </a:solidFill>
                <a:latin typeface="Plus Jakarta Sans"/>
                <a:ea typeface="Plus Jakarta Sans"/>
                <a:cs typeface="Plus Jakarta Sans"/>
                <a:sym typeface="Plus Jakarta Sans"/>
              </a:rPr>
              <a:t>Direct Phone &amp; Website Contact</a:t>
            </a:r>
            <a:endParaRPr dirty="0"/>
          </a:p>
        </p:txBody>
      </p:sp>
      <p:sp>
        <p:nvSpPr>
          <p:cNvPr id="136" name="Google Shape;136;p15"/>
          <p:cNvSpPr txBox="1"/>
          <p:nvPr/>
        </p:nvSpPr>
        <p:spPr>
          <a:xfrm>
            <a:off x="847750" y="5443825"/>
            <a:ext cx="50535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B5563"/>
                </a:solidFill>
                <a:latin typeface="Plus Jakarta Sans"/>
                <a:ea typeface="Plus Jakarta Sans"/>
                <a:cs typeface="Plus Jakarta Sans"/>
                <a:sym typeface="Plus Jakarta Sans"/>
              </a:rPr>
              <a:t>Names the responsible office with phone and address – in your district.</a:t>
            </a:r>
            <a:endParaRPr/>
          </a:p>
        </p:txBody>
      </p:sp>
      <p:sp>
        <p:nvSpPr>
          <p:cNvPr id="137" name="Google Shape;137;p15"/>
          <p:cNvSpPr txBox="1"/>
          <p:nvPr/>
        </p:nvSpPr>
        <p:spPr>
          <a:xfrm>
            <a:off x="612648" y="1600200"/>
            <a:ext cx="10972800" cy="457200"/>
          </a:xfrm>
          <a:prstGeom prst="rect">
            <a:avLst/>
          </a:prstGeom>
          <a:noFill/>
          <a:ln>
            <a:noFill/>
          </a:ln>
        </p:spPr>
        <p:txBody>
          <a:bodyPr spcFirstLastPara="1" wrap="square" lIns="0" tIns="91425" rIns="0" bIns="91425" anchor="t" anchorCtr="0">
            <a:normAutofit lnSpcReduction="10000"/>
          </a:bodyPr>
          <a:lstStyle/>
          <a:p>
            <a:pPr marL="0" lvl="0" indent="0" algn="l" rtl="0">
              <a:spcBef>
                <a:spcPts val="0"/>
              </a:spcBef>
              <a:spcAft>
                <a:spcPts val="0"/>
              </a:spcAft>
              <a:buNone/>
            </a:pPr>
            <a:r>
              <a:rPr lang="en-US" sz="2000" dirty="0">
                <a:solidFill>
                  <a:schemeClr val="dk1"/>
                </a:solidFill>
                <a:latin typeface="Plus Jakarta Sans"/>
                <a:ea typeface="Calibri"/>
                <a:cs typeface="Calibri"/>
                <a:sym typeface="Calibri"/>
              </a:rPr>
              <a:t>Introducing </a:t>
            </a:r>
            <a:r>
              <a:rPr lang="en-US" sz="2000" dirty="0">
                <a:solidFill>
                  <a:srgbClr val="E3000F"/>
                </a:solidFill>
                <a:latin typeface="Plus Jakarta Sans"/>
                <a:ea typeface="Calibri"/>
                <a:cs typeface="Calibri"/>
                <a:sym typeface="Calibri"/>
              </a:rPr>
              <a:t>CaritAs</a:t>
            </a:r>
            <a:r>
              <a:rPr lang="en-US" sz="2000" dirty="0">
                <a:solidFill>
                  <a:schemeClr val="dk1"/>
                </a:solidFill>
                <a:latin typeface="Plus Jakarta Sans"/>
                <a:ea typeface="Calibri"/>
                <a:cs typeface="Calibri"/>
                <a:sym typeface="Calibri"/>
              </a:rPr>
              <a:t>sist - finding the right help for you using AI</a:t>
            </a:r>
            <a:endParaRPr sz="3200" dirty="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1"/>
        <p:cNvGrpSpPr/>
        <p:nvPr/>
      </p:nvGrpSpPr>
      <p:grpSpPr>
        <a:xfrm>
          <a:off x="0" y="0"/>
          <a:ext cx="0" cy="0"/>
          <a:chOff x="0" y="0"/>
          <a:chExt cx="0" cy="0"/>
        </a:xfrm>
      </p:grpSpPr>
      <p:sp>
        <p:nvSpPr>
          <p:cNvPr id="142" name="Google Shape;142;p16"/>
          <p:cNvSpPr/>
          <p:nvPr/>
        </p:nvSpPr>
        <p:spPr>
          <a:xfrm>
            <a:off x="609600" y="4767262"/>
            <a:ext cx="10972800" cy="1095300"/>
          </a:xfrm>
          <a:prstGeom prst="roundRect">
            <a:avLst>
              <a:gd name="adj" fmla="val 12173"/>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16"/>
          <p:cNvSpPr/>
          <p:nvPr/>
        </p:nvSpPr>
        <p:spPr>
          <a:xfrm>
            <a:off x="609600" y="4767262"/>
            <a:ext cx="57150" cy="1095375"/>
          </a:xfrm>
          <a:prstGeom prst="rect">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4" name="Google Shape;144;p16" descr="image.png"/>
          <p:cNvPicPr preferRelativeResize="0"/>
          <p:nvPr/>
        </p:nvPicPr>
        <p:blipFill rotWithShape="1">
          <a:blip r:embed="rId3">
            <a:alphaModFix/>
          </a:blip>
          <a:srcRect/>
          <a:stretch/>
        </p:blipFill>
        <p:spPr>
          <a:xfrm>
            <a:off x="933450" y="5491162"/>
            <a:ext cx="171450" cy="171450"/>
          </a:xfrm>
          <a:prstGeom prst="rect">
            <a:avLst/>
          </a:prstGeom>
          <a:noFill/>
          <a:ln>
            <a:noFill/>
          </a:ln>
        </p:spPr>
      </p:pic>
      <p:pic>
        <p:nvPicPr>
          <p:cNvPr id="145" name="Google Shape;145;p16" descr="image.png"/>
          <p:cNvPicPr preferRelativeResize="0"/>
          <p:nvPr/>
        </p:nvPicPr>
        <p:blipFill rotWithShape="1">
          <a:blip r:embed="rId4">
            <a:alphaModFix/>
          </a:blip>
          <a:srcRect/>
          <a:stretch/>
        </p:blipFill>
        <p:spPr>
          <a:xfrm>
            <a:off x="3127248" y="5491162"/>
            <a:ext cx="133350" cy="171450"/>
          </a:xfrm>
          <a:prstGeom prst="rect">
            <a:avLst/>
          </a:prstGeom>
          <a:noFill/>
          <a:ln>
            <a:noFill/>
          </a:ln>
        </p:spPr>
      </p:pic>
      <p:sp>
        <p:nvSpPr>
          <p:cNvPr id="146" name="Google Shape;146;p16"/>
          <p:cNvSpPr txBox="1"/>
          <p:nvPr/>
        </p:nvSpPr>
        <p:spPr>
          <a:xfrm>
            <a:off x="612648" y="502920"/>
            <a:ext cx="11582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50" b="1" i="0" u="none" strike="noStrike" cap="none">
                <a:solidFill>
                  <a:srgbClr val="E3000F"/>
                </a:solidFill>
                <a:latin typeface="Plus Jakarta Sans"/>
                <a:ea typeface="Plus Jakarta Sans"/>
                <a:cs typeface="Plus Jakarta Sans"/>
                <a:sym typeface="Plus Jakarta Sans"/>
              </a:rPr>
              <a:t>HOW IT WORKS</a:t>
            </a:r>
            <a:endParaRPr/>
          </a:p>
        </p:txBody>
      </p:sp>
      <p:sp>
        <p:nvSpPr>
          <p:cNvPr id="147" name="Google Shape;147;p16"/>
          <p:cNvSpPr txBox="1"/>
          <p:nvPr/>
        </p:nvSpPr>
        <p:spPr>
          <a:xfrm>
            <a:off x="612648" y="868680"/>
            <a:ext cx="1158240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500" b="1">
                <a:solidFill>
                  <a:srgbClr val="111827"/>
                </a:solidFill>
                <a:latin typeface="Plus Jakarta Sans"/>
                <a:ea typeface="Plus Jakarta Sans"/>
                <a:cs typeface="Plus Jakarta Sans"/>
                <a:sym typeface="Plus Jakarta Sans"/>
              </a:rPr>
              <a:t>From one sentence to the right office</a:t>
            </a:r>
            <a:endParaRPr/>
          </a:p>
        </p:txBody>
      </p:sp>
      <p:sp>
        <p:nvSpPr>
          <p:cNvPr id="148" name="Google Shape;148;p16"/>
          <p:cNvSpPr txBox="1"/>
          <p:nvPr/>
        </p:nvSpPr>
        <p:spPr>
          <a:xfrm>
            <a:off x="876300" y="4957762"/>
            <a:ext cx="10534650" cy="7143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E3000F"/>
                </a:solidFill>
                <a:latin typeface="Plus Jakarta Sans"/>
                <a:ea typeface="Plus Jakarta Sans"/>
                <a:cs typeface="Plus Jakarta Sans"/>
                <a:sym typeface="Plus Jakarta Sans"/>
              </a:rPr>
              <a:t>CaritAssist Direct Result</a:t>
            </a:r>
            <a:endParaRPr dirty="0"/>
          </a:p>
        </p:txBody>
      </p:sp>
      <p:sp>
        <p:nvSpPr>
          <p:cNvPr id="149" name="Google Shape;149;p16"/>
          <p:cNvSpPr txBox="1"/>
          <p:nvPr/>
        </p:nvSpPr>
        <p:spPr>
          <a:xfrm>
            <a:off x="933450" y="5195887"/>
            <a:ext cx="11258550"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11827"/>
                </a:solidFill>
                <a:latin typeface="Plus Jakarta Sans"/>
                <a:ea typeface="Plus Jakarta Sans"/>
                <a:cs typeface="Plus Jakarta Sans"/>
                <a:sym typeface="Plus Jakarta Sans"/>
              </a:rPr>
              <a:t>Schuldner- und Insolvenzberatung · Kolping Bildungswerk Schweinfurt</a:t>
            </a:r>
            <a:endParaRPr/>
          </a:p>
        </p:txBody>
      </p:sp>
      <p:sp>
        <p:nvSpPr>
          <p:cNvPr id="150" name="Google Shape;150;p16"/>
          <p:cNvSpPr txBox="1"/>
          <p:nvPr/>
        </p:nvSpPr>
        <p:spPr>
          <a:xfrm>
            <a:off x="933375" y="5472937"/>
            <a:ext cx="11258700" cy="207900"/>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350" b="0" i="0" u="none" strike="noStrike" cap="none">
                <a:solidFill>
                  <a:srgbClr val="4B5563"/>
                </a:solidFill>
                <a:latin typeface="Plus Jakarta Sans"/>
                <a:ea typeface="Plus Jakarta Sans"/>
                <a:cs typeface="Plus Jakarta Sans"/>
                <a:sym typeface="Plus Jakarta Sans"/>
              </a:rPr>
              <a:t>Telefon: 09721 7389590</a:t>
            </a:r>
            <a:endParaRPr/>
          </a:p>
        </p:txBody>
      </p:sp>
      <p:sp>
        <p:nvSpPr>
          <p:cNvPr id="151" name="Google Shape;151;p16"/>
          <p:cNvSpPr/>
          <p:nvPr/>
        </p:nvSpPr>
        <p:spPr>
          <a:xfrm>
            <a:off x="609525" y="1759962"/>
            <a:ext cx="10972800" cy="857400"/>
          </a:xfrm>
          <a:prstGeom prst="roundRect">
            <a:avLst>
              <a:gd name="adj" fmla="val 15555"/>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2" name="Google Shape;152;p16"/>
          <p:cNvSpPr/>
          <p:nvPr/>
        </p:nvSpPr>
        <p:spPr>
          <a:xfrm>
            <a:off x="609525" y="1759962"/>
            <a:ext cx="57300" cy="857400"/>
          </a:xfrm>
          <a:prstGeom prst="rect">
            <a:avLst/>
          </a:prstGeom>
          <a:solidFill>
            <a:srgbClr val="64748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3" name="Google Shape;153;p16" descr="image.png"/>
          <p:cNvPicPr preferRelativeResize="0"/>
          <p:nvPr/>
        </p:nvPicPr>
        <p:blipFill rotWithShape="1">
          <a:blip r:embed="rId5">
            <a:alphaModFix/>
          </a:blip>
          <a:srcRect/>
          <a:stretch/>
        </p:blipFill>
        <p:spPr>
          <a:xfrm>
            <a:off x="5957513" y="2666994"/>
            <a:ext cx="276975" cy="369300"/>
          </a:xfrm>
          <a:prstGeom prst="rect">
            <a:avLst/>
          </a:prstGeom>
          <a:noFill/>
          <a:ln>
            <a:noFill/>
          </a:ln>
        </p:spPr>
      </p:pic>
      <p:sp>
        <p:nvSpPr>
          <p:cNvPr id="154" name="Google Shape;154;p16"/>
          <p:cNvSpPr txBox="1"/>
          <p:nvPr/>
        </p:nvSpPr>
        <p:spPr>
          <a:xfrm>
            <a:off x="876225" y="1950462"/>
            <a:ext cx="105348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64748B"/>
                </a:solidFill>
                <a:latin typeface="Plus Jakarta Sans"/>
                <a:ea typeface="Plus Jakarta Sans"/>
                <a:cs typeface="Plus Jakarta Sans"/>
                <a:sym typeface="Plus Jakarta Sans"/>
              </a:rPr>
              <a:t>User</a:t>
            </a:r>
            <a:r>
              <a:rPr lang="en-US" sz="1050" b="1">
                <a:solidFill>
                  <a:srgbClr val="64748B"/>
                </a:solidFill>
                <a:latin typeface="Plus Jakarta Sans"/>
                <a:ea typeface="Plus Jakarta Sans"/>
                <a:cs typeface="Plus Jakarta Sans"/>
                <a:sym typeface="Plus Jakarta Sans"/>
              </a:rPr>
              <a:t> Voice Input</a:t>
            </a:r>
            <a:endParaRPr/>
          </a:p>
        </p:txBody>
      </p:sp>
      <p:sp>
        <p:nvSpPr>
          <p:cNvPr id="155" name="Google Shape;155;p16"/>
          <p:cNvSpPr txBox="1"/>
          <p:nvPr/>
        </p:nvSpPr>
        <p:spPr>
          <a:xfrm>
            <a:off x="933375" y="2188587"/>
            <a:ext cx="11258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1" u="none" strike="noStrike" cap="none">
                <a:solidFill>
                  <a:srgbClr val="1E293B"/>
                </a:solidFill>
                <a:latin typeface="Plus Jakarta Sans"/>
                <a:ea typeface="Plus Jakarta Sans"/>
                <a:cs typeface="Plus Jakarta Sans"/>
                <a:sym typeface="Plus Jakarta Sans"/>
              </a:rPr>
              <a:t>„Ich habe so viele Schulden und weiß nicht mehr weiter. Ich wohne in Schweinfurt.“</a:t>
            </a:r>
            <a:endParaRPr/>
          </a:p>
        </p:txBody>
      </p:sp>
      <p:pic>
        <p:nvPicPr>
          <p:cNvPr id="156" name="Google Shape;156;p16"/>
          <p:cNvPicPr preferRelativeResize="0"/>
          <p:nvPr/>
        </p:nvPicPr>
        <p:blipFill rotWithShape="1">
          <a:blip r:embed="rId6">
            <a:alphaModFix/>
          </a:blip>
          <a:srcRect l="12986" t="11658" r="11119" b="7212"/>
          <a:stretch/>
        </p:blipFill>
        <p:spPr>
          <a:xfrm>
            <a:off x="5507862" y="3179063"/>
            <a:ext cx="1176287" cy="1257325"/>
          </a:xfrm>
          <a:prstGeom prst="rect">
            <a:avLst/>
          </a:prstGeom>
          <a:noFill/>
          <a:ln>
            <a:noFill/>
          </a:ln>
        </p:spPr>
      </p:pic>
      <p:pic>
        <p:nvPicPr>
          <p:cNvPr id="157" name="Google Shape;157;p16" descr="image.png"/>
          <p:cNvPicPr preferRelativeResize="0"/>
          <p:nvPr/>
        </p:nvPicPr>
        <p:blipFill rotWithShape="1">
          <a:blip r:embed="rId5">
            <a:alphaModFix/>
          </a:blip>
          <a:srcRect/>
          <a:stretch/>
        </p:blipFill>
        <p:spPr>
          <a:xfrm rot="-5400000">
            <a:off x="7307300" y="3578828"/>
            <a:ext cx="313075" cy="417425"/>
          </a:xfrm>
          <a:prstGeom prst="rect">
            <a:avLst/>
          </a:prstGeom>
          <a:noFill/>
          <a:ln>
            <a:noFill/>
          </a:ln>
        </p:spPr>
      </p:pic>
      <p:pic>
        <p:nvPicPr>
          <p:cNvPr id="158" name="Google Shape;158;p16" descr="image.png"/>
          <p:cNvPicPr preferRelativeResize="0"/>
          <p:nvPr/>
        </p:nvPicPr>
        <p:blipFill rotWithShape="1">
          <a:blip r:embed="rId5">
            <a:alphaModFix/>
          </a:blip>
          <a:srcRect/>
          <a:stretch/>
        </p:blipFill>
        <p:spPr>
          <a:xfrm rot="-5400000">
            <a:off x="4641700" y="3578828"/>
            <a:ext cx="313075" cy="417425"/>
          </a:xfrm>
          <a:prstGeom prst="rect">
            <a:avLst/>
          </a:prstGeom>
          <a:noFill/>
          <a:ln>
            <a:noFill/>
          </a:ln>
        </p:spPr>
      </p:pic>
      <p:pic>
        <p:nvPicPr>
          <p:cNvPr id="159" name="Google Shape;159;p16"/>
          <p:cNvPicPr preferRelativeResize="0"/>
          <p:nvPr/>
        </p:nvPicPr>
        <p:blipFill>
          <a:blip r:embed="rId7">
            <a:alphaModFix/>
          </a:blip>
          <a:stretch>
            <a:fillRect/>
          </a:stretch>
        </p:blipFill>
        <p:spPr>
          <a:xfrm>
            <a:off x="876300" y="2769762"/>
            <a:ext cx="3303117" cy="1845100"/>
          </a:xfrm>
          <a:prstGeom prst="rect">
            <a:avLst/>
          </a:prstGeom>
          <a:noFill/>
          <a:ln>
            <a:noFill/>
          </a:ln>
        </p:spPr>
      </p:pic>
      <p:pic>
        <p:nvPicPr>
          <p:cNvPr id="160" name="Google Shape;160;p16"/>
          <p:cNvPicPr preferRelativeResize="0"/>
          <p:nvPr/>
        </p:nvPicPr>
        <p:blipFill>
          <a:blip r:embed="rId8">
            <a:alphaModFix/>
          </a:blip>
          <a:stretch>
            <a:fillRect/>
          </a:stretch>
        </p:blipFill>
        <p:spPr>
          <a:xfrm>
            <a:off x="7824950" y="2769762"/>
            <a:ext cx="3303117" cy="1845100"/>
          </a:xfrm>
          <a:prstGeom prst="rect">
            <a:avLst/>
          </a:prstGeom>
          <a:noFill/>
          <a:ln>
            <a:noFill/>
          </a:ln>
        </p:spPr>
      </p:pic>
      <p:sp>
        <p:nvSpPr>
          <p:cNvPr id="161" name="TextBox 160"/>
          <p:cNvSpPr txBox="1"/>
          <p:nvPr/>
        </p:nvSpPr>
        <p:spPr>
          <a:xfrm>
            <a:off x="3346704" y="5472937"/>
            <a:ext cx="5486400" cy="228600"/>
          </a:xfrm>
          <a:prstGeom prst="rect">
            <a:avLst/>
          </a:prstGeom>
          <a:noFill/>
        </p:spPr>
        <p:txBody>
          <a:bodyPr wrap="square" lIns="0" tIns="0" rIns="0" bIns="0" anchor="t">
            <a:spAutoFit/>
          </a:bodyPr>
          <a:lstStyle/>
          <a:p>
            <a:pPr algn="l"/>
            <a:r>
              <a:rPr sz="1350" b="0" i="0">
                <a:solidFill>
                  <a:srgbClr val="4B5563"/>
                </a:solidFill>
                <a:latin typeface="Plus Jakarta Sans"/>
              </a:rPr>
              <a:t>Fischerrain 2, 97421 Schweinfurt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ection label"/>
          <p:cNvSpPr txBox="1"/>
          <p:nvPr/>
        </p:nvSpPr>
        <p:spPr>
          <a:xfrm>
            <a:off x="612648" y="502920"/>
            <a:ext cx="10972800" cy="274320"/>
          </a:xfrm>
          <a:prstGeom prst="rect">
            <a:avLst/>
          </a:prstGeom>
          <a:noFill/>
        </p:spPr>
        <p:txBody>
          <a:bodyPr wrap="square" lIns="0" tIns="0" rIns="0" bIns="0" anchor="t">
            <a:spAutoFit/>
          </a:bodyPr>
          <a:lstStyle/>
          <a:p>
            <a:pPr algn="l"/>
            <a:r>
              <a:rPr sz="1550" b="1" i="0">
                <a:solidFill>
                  <a:srgbClr val="E3000F"/>
                </a:solidFill>
                <a:latin typeface="Plus Jakarta Sans"/>
              </a:rPr>
              <a:t>UNDER THE HOOD</a:t>
            </a:r>
          </a:p>
        </p:txBody>
      </p:sp>
      <p:sp>
        <p:nvSpPr>
          <p:cNvPr id="3" name="Title"/>
          <p:cNvSpPr txBox="1"/>
          <p:nvPr/>
        </p:nvSpPr>
        <p:spPr>
          <a:xfrm>
            <a:off x="612648" y="868680"/>
            <a:ext cx="10972800" cy="640080"/>
          </a:xfrm>
          <a:prstGeom prst="rect">
            <a:avLst/>
          </a:prstGeom>
          <a:noFill/>
        </p:spPr>
        <p:txBody>
          <a:bodyPr wrap="square" lIns="0" tIns="0" rIns="0" bIns="0" anchor="t">
            <a:spAutoFit/>
          </a:bodyPr>
          <a:lstStyle/>
          <a:p>
            <a:pPr algn="l"/>
            <a:r>
              <a:rPr sz="3500" b="1" i="0">
                <a:solidFill>
                  <a:srgbClr val="111827"/>
                </a:solidFill>
                <a:latin typeface="Plus Jakarta Sans"/>
              </a:rPr>
              <a:t>Five steps, about one second</a:t>
            </a:r>
          </a:p>
        </p:txBody>
      </p:sp>
      <p:sp>
        <p:nvSpPr>
          <p:cNvPr id="4" name="Card"/>
          <p:cNvSpPr/>
          <p:nvPr/>
        </p:nvSpPr>
        <p:spPr>
          <a:xfrm>
            <a:off x="612648" y="1874519"/>
            <a:ext cx="2057400" cy="260604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circle"/>
          <p:cNvSpPr/>
          <p:nvPr/>
        </p:nvSpPr>
        <p:spPr>
          <a:xfrm>
            <a:off x="813816" y="2103120"/>
            <a:ext cx="566928" cy="566928"/>
          </a:xfrm>
          <a:prstGeom prst="ellipse">
            <a:avLst/>
          </a:prstGeom>
          <a:solidFill>
            <a:srgbClr val="E300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mic_white.png"/>
          <p:cNvPicPr>
            <a:picLocks noChangeAspect="1"/>
          </p:cNvPicPr>
          <p:nvPr/>
        </p:nvPicPr>
        <p:blipFill>
          <a:blip r:embed="rId3"/>
          <a:stretch>
            <a:fillRect/>
          </a:stretch>
        </p:blipFill>
        <p:spPr>
          <a:xfrm>
            <a:off x="950976" y="2240280"/>
            <a:ext cx="292608" cy="292608"/>
          </a:xfrm>
          <a:prstGeom prst="rect">
            <a:avLst/>
          </a:prstGeom>
        </p:spPr>
      </p:pic>
      <p:sp>
        <p:nvSpPr>
          <p:cNvPr id="7" name="TextBox 6"/>
          <p:cNvSpPr txBox="1"/>
          <p:nvPr/>
        </p:nvSpPr>
        <p:spPr>
          <a:xfrm>
            <a:off x="813816" y="2834640"/>
            <a:ext cx="1737360" cy="201168"/>
          </a:xfrm>
          <a:prstGeom prst="rect">
            <a:avLst/>
          </a:prstGeom>
          <a:noFill/>
        </p:spPr>
        <p:txBody>
          <a:bodyPr wrap="square" lIns="0" tIns="0" rIns="0" bIns="0" anchor="t">
            <a:spAutoFit/>
          </a:bodyPr>
          <a:lstStyle/>
          <a:p>
            <a:pPr algn="l"/>
            <a:r>
              <a:rPr sz="1050" b="1" i="0">
                <a:solidFill>
                  <a:srgbClr val="E3000F"/>
                </a:solidFill>
                <a:latin typeface="Plus Jakarta Sans"/>
              </a:rPr>
              <a:t>STEP 1</a:t>
            </a:r>
          </a:p>
        </p:txBody>
      </p:sp>
      <p:sp>
        <p:nvSpPr>
          <p:cNvPr id="8" name="TextBox 7"/>
          <p:cNvSpPr txBox="1"/>
          <p:nvPr/>
        </p:nvSpPr>
        <p:spPr>
          <a:xfrm>
            <a:off x="813816" y="3063240"/>
            <a:ext cx="1737360" cy="274320"/>
          </a:xfrm>
          <a:prstGeom prst="rect">
            <a:avLst/>
          </a:prstGeom>
          <a:noFill/>
        </p:spPr>
        <p:txBody>
          <a:bodyPr wrap="square" lIns="0" tIns="0" rIns="0" bIns="0" anchor="t">
            <a:spAutoFit/>
          </a:bodyPr>
          <a:lstStyle/>
          <a:p>
            <a:pPr algn="l"/>
            <a:r>
              <a:rPr sz="1500" b="1" i="0">
                <a:solidFill>
                  <a:srgbClr val="111827"/>
                </a:solidFill>
                <a:latin typeface="Plus Jakarta Sans"/>
              </a:rPr>
              <a:t>Listen</a:t>
            </a:r>
          </a:p>
        </p:txBody>
      </p:sp>
      <p:sp>
        <p:nvSpPr>
          <p:cNvPr id="9" name="TextBox 8"/>
          <p:cNvSpPr txBox="1"/>
          <p:nvPr/>
        </p:nvSpPr>
        <p:spPr>
          <a:xfrm>
            <a:off x="813816" y="3429000"/>
            <a:ext cx="1691640" cy="1463040"/>
          </a:xfrm>
          <a:prstGeom prst="rect">
            <a:avLst/>
          </a:prstGeom>
          <a:noFill/>
        </p:spPr>
        <p:txBody>
          <a:bodyPr wrap="square" lIns="0" tIns="0" rIns="0" bIns="0" anchor="t">
            <a:spAutoFit/>
          </a:bodyPr>
          <a:lstStyle/>
          <a:p>
            <a:pPr algn="l"/>
            <a:r>
              <a:rPr sz="1250" b="0" i="0">
                <a:solidFill>
                  <a:srgbClr val="4B5563"/>
                </a:solidFill>
                <a:latin typeface="Plus Jakarta Sans"/>
              </a:rPr>
              <a:t>Browser speech recognition, in German or English.</a:t>
            </a:r>
          </a:p>
        </p:txBody>
      </p:sp>
      <p:sp>
        <p:nvSpPr>
          <p:cNvPr id="10" name="Card"/>
          <p:cNvSpPr/>
          <p:nvPr/>
        </p:nvSpPr>
        <p:spPr>
          <a:xfrm>
            <a:off x="2843784" y="1874519"/>
            <a:ext cx="2057400" cy="260604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ep circle"/>
          <p:cNvSpPr/>
          <p:nvPr/>
        </p:nvSpPr>
        <p:spPr>
          <a:xfrm>
            <a:off x="3044952" y="2103120"/>
            <a:ext cx="566928" cy="566928"/>
          </a:xfrm>
          <a:prstGeom prst="ellipse">
            <a:avLst/>
          </a:prstGeom>
          <a:solidFill>
            <a:srgbClr val="E300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shield_white.png"/>
          <p:cNvPicPr>
            <a:picLocks noChangeAspect="1"/>
          </p:cNvPicPr>
          <p:nvPr/>
        </p:nvPicPr>
        <p:blipFill>
          <a:blip r:embed="rId4"/>
          <a:stretch>
            <a:fillRect/>
          </a:stretch>
        </p:blipFill>
        <p:spPr>
          <a:xfrm>
            <a:off x="3182112" y="2240280"/>
            <a:ext cx="292608" cy="292608"/>
          </a:xfrm>
          <a:prstGeom prst="rect">
            <a:avLst/>
          </a:prstGeom>
        </p:spPr>
      </p:pic>
      <p:sp>
        <p:nvSpPr>
          <p:cNvPr id="13" name="TextBox 12"/>
          <p:cNvSpPr txBox="1"/>
          <p:nvPr/>
        </p:nvSpPr>
        <p:spPr>
          <a:xfrm>
            <a:off x="3044952" y="2834640"/>
            <a:ext cx="1737360" cy="201168"/>
          </a:xfrm>
          <a:prstGeom prst="rect">
            <a:avLst/>
          </a:prstGeom>
          <a:noFill/>
        </p:spPr>
        <p:txBody>
          <a:bodyPr wrap="square" lIns="0" tIns="0" rIns="0" bIns="0" anchor="t">
            <a:spAutoFit/>
          </a:bodyPr>
          <a:lstStyle/>
          <a:p>
            <a:pPr algn="l"/>
            <a:r>
              <a:rPr sz="1050" b="1" i="0">
                <a:solidFill>
                  <a:srgbClr val="E3000F"/>
                </a:solidFill>
                <a:latin typeface="Plus Jakarta Sans"/>
              </a:rPr>
              <a:t>STEP 2</a:t>
            </a:r>
          </a:p>
        </p:txBody>
      </p:sp>
      <p:sp>
        <p:nvSpPr>
          <p:cNvPr id="14" name="TextBox 13"/>
          <p:cNvSpPr txBox="1"/>
          <p:nvPr/>
        </p:nvSpPr>
        <p:spPr>
          <a:xfrm>
            <a:off x="3044952" y="3063240"/>
            <a:ext cx="1737360" cy="274320"/>
          </a:xfrm>
          <a:prstGeom prst="rect">
            <a:avLst/>
          </a:prstGeom>
          <a:noFill/>
        </p:spPr>
        <p:txBody>
          <a:bodyPr wrap="square" lIns="0" tIns="0" rIns="0" bIns="0" anchor="t">
            <a:spAutoFit/>
          </a:bodyPr>
          <a:lstStyle/>
          <a:p>
            <a:pPr algn="l"/>
            <a:r>
              <a:rPr sz="1500" b="1" i="0">
                <a:solidFill>
                  <a:srgbClr val="111827"/>
                </a:solidFill>
                <a:latin typeface="Plus Jakarta Sans"/>
              </a:rPr>
              <a:t>Safety first</a:t>
            </a:r>
          </a:p>
        </p:txBody>
      </p:sp>
      <p:sp>
        <p:nvSpPr>
          <p:cNvPr id="15" name="TextBox 14"/>
          <p:cNvSpPr txBox="1"/>
          <p:nvPr/>
        </p:nvSpPr>
        <p:spPr>
          <a:xfrm>
            <a:off x="3044952" y="3429000"/>
            <a:ext cx="1691640" cy="1463040"/>
          </a:xfrm>
          <a:prstGeom prst="rect">
            <a:avLst/>
          </a:prstGeom>
          <a:noFill/>
        </p:spPr>
        <p:txBody>
          <a:bodyPr wrap="square" lIns="0" tIns="0" rIns="0" bIns="0" anchor="t">
            <a:spAutoFit/>
          </a:bodyPr>
          <a:lstStyle/>
          <a:p>
            <a:pPr algn="l"/>
            <a:r>
              <a:rPr sz="1250" b="0" i="0">
                <a:solidFill>
                  <a:srgbClr val="4B5563"/>
                </a:solidFill>
                <a:latin typeface="Plus Jakarta Sans"/>
              </a:rPr>
              <a:t>Crisis words → 112 and TelefonSeelsorge immediately, before any AI.</a:t>
            </a:r>
          </a:p>
        </p:txBody>
      </p:sp>
      <p:sp>
        <p:nvSpPr>
          <p:cNvPr id="16" name="Card"/>
          <p:cNvSpPr/>
          <p:nvPr/>
        </p:nvSpPr>
        <p:spPr>
          <a:xfrm>
            <a:off x="5074920" y="1874519"/>
            <a:ext cx="2057400" cy="260604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tep circle"/>
          <p:cNvSpPr/>
          <p:nvPr/>
        </p:nvSpPr>
        <p:spPr>
          <a:xfrm>
            <a:off x="5276088" y="2103120"/>
            <a:ext cx="566928" cy="566928"/>
          </a:xfrm>
          <a:prstGeom prst="ellipse">
            <a:avLst/>
          </a:prstGeom>
          <a:solidFill>
            <a:srgbClr val="E300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brain_white.png"/>
          <p:cNvPicPr>
            <a:picLocks noChangeAspect="1"/>
          </p:cNvPicPr>
          <p:nvPr/>
        </p:nvPicPr>
        <p:blipFill>
          <a:blip r:embed="rId5"/>
          <a:stretch>
            <a:fillRect/>
          </a:stretch>
        </p:blipFill>
        <p:spPr>
          <a:xfrm>
            <a:off x="5413248" y="2240280"/>
            <a:ext cx="292608" cy="292608"/>
          </a:xfrm>
          <a:prstGeom prst="rect">
            <a:avLst/>
          </a:prstGeom>
        </p:spPr>
      </p:pic>
      <p:sp>
        <p:nvSpPr>
          <p:cNvPr id="19" name="TextBox 18"/>
          <p:cNvSpPr txBox="1"/>
          <p:nvPr/>
        </p:nvSpPr>
        <p:spPr>
          <a:xfrm>
            <a:off x="5276088" y="2834640"/>
            <a:ext cx="1737360" cy="201168"/>
          </a:xfrm>
          <a:prstGeom prst="rect">
            <a:avLst/>
          </a:prstGeom>
          <a:noFill/>
        </p:spPr>
        <p:txBody>
          <a:bodyPr wrap="square" lIns="0" tIns="0" rIns="0" bIns="0" anchor="t">
            <a:spAutoFit/>
          </a:bodyPr>
          <a:lstStyle/>
          <a:p>
            <a:pPr algn="l"/>
            <a:r>
              <a:rPr sz="1050" b="1" i="0">
                <a:solidFill>
                  <a:srgbClr val="E3000F"/>
                </a:solidFill>
                <a:latin typeface="Plus Jakarta Sans"/>
              </a:rPr>
              <a:t>STEP 3</a:t>
            </a:r>
          </a:p>
        </p:txBody>
      </p:sp>
      <p:sp>
        <p:nvSpPr>
          <p:cNvPr id="20" name="TextBox 19"/>
          <p:cNvSpPr txBox="1"/>
          <p:nvPr/>
        </p:nvSpPr>
        <p:spPr>
          <a:xfrm>
            <a:off x="5276088" y="3063240"/>
            <a:ext cx="1737360" cy="274320"/>
          </a:xfrm>
          <a:prstGeom prst="rect">
            <a:avLst/>
          </a:prstGeom>
          <a:noFill/>
        </p:spPr>
        <p:txBody>
          <a:bodyPr wrap="square" lIns="0" tIns="0" rIns="0" bIns="0" anchor="t">
            <a:spAutoFit/>
          </a:bodyPr>
          <a:lstStyle/>
          <a:p>
            <a:pPr algn="l"/>
            <a:r>
              <a:rPr sz="1500" b="1" i="0">
                <a:solidFill>
                  <a:srgbClr val="111827"/>
                </a:solidFill>
                <a:latin typeface="Plus Jakarta Sans"/>
              </a:rPr>
              <a:t>Understand</a:t>
            </a:r>
          </a:p>
        </p:txBody>
      </p:sp>
      <p:sp>
        <p:nvSpPr>
          <p:cNvPr id="21" name="TextBox 20"/>
          <p:cNvSpPr txBox="1"/>
          <p:nvPr/>
        </p:nvSpPr>
        <p:spPr>
          <a:xfrm>
            <a:off x="5276088" y="3429000"/>
            <a:ext cx="1691640" cy="1463040"/>
          </a:xfrm>
          <a:prstGeom prst="rect">
            <a:avLst/>
          </a:prstGeom>
          <a:noFill/>
        </p:spPr>
        <p:txBody>
          <a:bodyPr wrap="square" lIns="0" tIns="0" rIns="0" bIns="0" anchor="t">
            <a:spAutoFit/>
          </a:bodyPr>
          <a:lstStyle/>
          <a:p>
            <a:pPr algn="l"/>
            <a:r>
              <a:rPr sz="1250" b="0" i="0">
                <a:solidFill>
                  <a:srgbClr val="4B5563"/>
                </a:solidFill>
                <a:latin typeface="Plus Jakarta Sans"/>
              </a:rPr>
              <a:t>AI (gpt-oss-120b via Groq) picks 1 of 32 services – or asks one short question.</a:t>
            </a:r>
          </a:p>
        </p:txBody>
      </p:sp>
      <p:sp>
        <p:nvSpPr>
          <p:cNvPr id="22" name="Card"/>
          <p:cNvSpPr/>
          <p:nvPr/>
        </p:nvSpPr>
        <p:spPr>
          <a:xfrm>
            <a:off x="7306056" y="1874519"/>
            <a:ext cx="2057400" cy="260604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ep circle"/>
          <p:cNvSpPr/>
          <p:nvPr/>
        </p:nvSpPr>
        <p:spPr>
          <a:xfrm>
            <a:off x="7507224" y="2103120"/>
            <a:ext cx="566928" cy="566928"/>
          </a:xfrm>
          <a:prstGeom prst="ellipse">
            <a:avLst/>
          </a:prstGeom>
          <a:solidFill>
            <a:srgbClr val="E300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pin_white.png"/>
          <p:cNvPicPr>
            <a:picLocks noChangeAspect="1"/>
          </p:cNvPicPr>
          <p:nvPr/>
        </p:nvPicPr>
        <p:blipFill>
          <a:blip r:embed="rId6"/>
          <a:stretch>
            <a:fillRect/>
          </a:stretch>
        </p:blipFill>
        <p:spPr>
          <a:xfrm>
            <a:off x="7644383" y="2240280"/>
            <a:ext cx="292608" cy="292608"/>
          </a:xfrm>
          <a:prstGeom prst="rect">
            <a:avLst/>
          </a:prstGeom>
        </p:spPr>
      </p:pic>
      <p:sp>
        <p:nvSpPr>
          <p:cNvPr id="25" name="TextBox 24"/>
          <p:cNvSpPr txBox="1"/>
          <p:nvPr/>
        </p:nvSpPr>
        <p:spPr>
          <a:xfrm>
            <a:off x="7507224" y="2834640"/>
            <a:ext cx="1737360" cy="201168"/>
          </a:xfrm>
          <a:prstGeom prst="rect">
            <a:avLst/>
          </a:prstGeom>
          <a:noFill/>
        </p:spPr>
        <p:txBody>
          <a:bodyPr wrap="square" lIns="0" tIns="0" rIns="0" bIns="0" anchor="t">
            <a:spAutoFit/>
          </a:bodyPr>
          <a:lstStyle/>
          <a:p>
            <a:pPr algn="l"/>
            <a:r>
              <a:rPr sz="1050" b="1" i="0">
                <a:solidFill>
                  <a:srgbClr val="E3000F"/>
                </a:solidFill>
                <a:latin typeface="Plus Jakarta Sans"/>
              </a:rPr>
              <a:t>STEP 4</a:t>
            </a:r>
          </a:p>
        </p:txBody>
      </p:sp>
      <p:sp>
        <p:nvSpPr>
          <p:cNvPr id="26" name="TextBox 25"/>
          <p:cNvSpPr txBox="1"/>
          <p:nvPr/>
        </p:nvSpPr>
        <p:spPr>
          <a:xfrm>
            <a:off x="7507224" y="3063240"/>
            <a:ext cx="1737360" cy="274320"/>
          </a:xfrm>
          <a:prstGeom prst="rect">
            <a:avLst/>
          </a:prstGeom>
          <a:noFill/>
        </p:spPr>
        <p:txBody>
          <a:bodyPr wrap="square" lIns="0" tIns="0" rIns="0" bIns="0" anchor="t">
            <a:spAutoFit/>
          </a:bodyPr>
          <a:lstStyle/>
          <a:p>
            <a:pPr algn="l"/>
            <a:r>
              <a:rPr sz="1500" b="1" i="0">
                <a:solidFill>
                  <a:srgbClr val="111827"/>
                </a:solidFill>
                <a:latin typeface="Plus Jakarta Sans"/>
              </a:rPr>
              <a:t>Look up</a:t>
            </a:r>
          </a:p>
        </p:txBody>
      </p:sp>
      <p:sp>
        <p:nvSpPr>
          <p:cNvPr id="27" name="TextBox 26"/>
          <p:cNvSpPr txBox="1"/>
          <p:nvPr/>
        </p:nvSpPr>
        <p:spPr>
          <a:xfrm>
            <a:off x="7507224" y="3429000"/>
            <a:ext cx="1691640" cy="1463040"/>
          </a:xfrm>
          <a:prstGeom prst="rect">
            <a:avLst/>
          </a:prstGeom>
          <a:noFill/>
        </p:spPr>
        <p:txBody>
          <a:bodyPr wrap="square" lIns="0" tIns="0" rIns="0" bIns="0" anchor="t">
            <a:spAutoFit/>
          </a:bodyPr>
          <a:lstStyle/>
          <a:p>
            <a:pPr algn="l"/>
            <a:r>
              <a:rPr sz="1250" b="0" i="0">
                <a:solidFill>
                  <a:srgbClr val="4B5563"/>
                </a:solidFill>
                <a:latin typeface="Plus Jakarta Sans"/>
              </a:rPr>
              <a:t>Our code finds the office in the user's district. The AI never writes phone numbers.</a:t>
            </a:r>
          </a:p>
        </p:txBody>
      </p:sp>
      <p:sp>
        <p:nvSpPr>
          <p:cNvPr id="28" name="Card"/>
          <p:cNvSpPr/>
          <p:nvPr/>
        </p:nvSpPr>
        <p:spPr>
          <a:xfrm>
            <a:off x="9537192" y="1874519"/>
            <a:ext cx="2057400" cy="260604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Step circle"/>
          <p:cNvSpPr/>
          <p:nvPr/>
        </p:nvSpPr>
        <p:spPr>
          <a:xfrm>
            <a:off x="9738360" y="2103120"/>
            <a:ext cx="566928" cy="566928"/>
          </a:xfrm>
          <a:prstGeom prst="ellipse">
            <a:avLst/>
          </a:prstGeom>
          <a:solidFill>
            <a:srgbClr val="E300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volume_white.png"/>
          <p:cNvPicPr>
            <a:picLocks noChangeAspect="1"/>
          </p:cNvPicPr>
          <p:nvPr/>
        </p:nvPicPr>
        <p:blipFill>
          <a:blip r:embed="rId7"/>
          <a:stretch>
            <a:fillRect/>
          </a:stretch>
        </p:blipFill>
        <p:spPr>
          <a:xfrm>
            <a:off x="9875519" y="2240280"/>
            <a:ext cx="292608" cy="292608"/>
          </a:xfrm>
          <a:prstGeom prst="rect">
            <a:avLst/>
          </a:prstGeom>
        </p:spPr>
      </p:pic>
      <p:sp>
        <p:nvSpPr>
          <p:cNvPr id="31" name="TextBox 30"/>
          <p:cNvSpPr txBox="1"/>
          <p:nvPr/>
        </p:nvSpPr>
        <p:spPr>
          <a:xfrm>
            <a:off x="9738360" y="2834640"/>
            <a:ext cx="1737360" cy="201168"/>
          </a:xfrm>
          <a:prstGeom prst="rect">
            <a:avLst/>
          </a:prstGeom>
          <a:noFill/>
        </p:spPr>
        <p:txBody>
          <a:bodyPr wrap="square" lIns="0" tIns="0" rIns="0" bIns="0" anchor="t">
            <a:spAutoFit/>
          </a:bodyPr>
          <a:lstStyle/>
          <a:p>
            <a:pPr algn="l"/>
            <a:r>
              <a:rPr sz="1050" b="1" i="0">
                <a:solidFill>
                  <a:srgbClr val="E3000F"/>
                </a:solidFill>
                <a:latin typeface="Plus Jakarta Sans"/>
              </a:rPr>
              <a:t>STEP 5</a:t>
            </a:r>
          </a:p>
        </p:txBody>
      </p:sp>
      <p:sp>
        <p:nvSpPr>
          <p:cNvPr id="32" name="TextBox 31"/>
          <p:cNvSpPr txBox="1"/>
          <p:nvPr/>
        </p:nvSpPr>
        <p:spPr>
          <a:xfrm>
            <a:off x="9738360" y="3063240"/>
            <a:ext cx="1737360" cy="274320"/>
          </a:xfrm>
          <a:prstGeom prst="rect">
            <a:avLst/>
          </a:prstGeom>
          <a:noFill/>
        </p:spPr>
        <p:txBody>
          <a:bodyPr wrap="square" lIns="0" tIns="0" rIns="0" bIns="0" anchor="t">
            <a:spAutoFit/>
          </a:bodyPr>
          <a:lstStyle/>
          <a:p>
            <a:pPr algn="l"/>
            <a:r>
              <a:rPr sz="1500" b="1" i="0">
                <a:solidFill>
                  <a:srgbClr val="111827"/>
                </a:solidFill>
                <a:latin typeface="Plus Jakarta Sans"/>
              </a:rPr>
              <a:t>Answer</a:t>
            </a:r>
          </a:p>
        </p:txBody>
      </p:sp>
      <p:sp>
        <p:nvSpPr>
          <p:cNvPr id="33" name="TextBox 32"/>
          <p:cNvSpPr txBox="1"/>
          <p:nvPr/>
        </p:nvSpPr>
        <p:spPr>
          <a:xfrm>
            <a:off x="9738360" y="3429000"/>
            <a:ext cx="1691640" cy="1463040"/>
          </a:xfrm>
          <a:prstGeom prst="rect">
            <a:avLst/>
          </a:prstGeom>
          <a:noFill/>
        </p:spPr>
        <p:txBody>
          <a:bodyPr wrap="square" lIns="0" tIns="0" rIns="0" bIns="0" anchor="t">
            <a:spAutoFit/>
          </a:bodyPr>
          <a:lstStyle/>
          <a:p>
            <a:pPr algn="l"/>
            <a:r>
              <a:rPr sz="1250" b="0" i="0">
                <a:solidFill>
                  <a:srgbClr val="4B5563"/>
                </a:solidFill>
                <a:latin typeface="Plus Jakarta Sans"/>
              </a:rPr>
              <a:t>Text with office card, read aloud by a natural voice – with an offline backup voice.</a:t>
            </a:r>
          </a:p>
        </p:txBody>
      </p:sp>
      <p:sp>
        <p:nvSpPr>
          <p:cNvPr id="34" name="TextBox 33"/>
          <p:cNvSpPr txBox="1"/>
          <p:nvPr/>
        </p:nvSpPr>
        <p:spPr>
          <a:xfrm>
            <a:off x="612648" y="4846320"/>
            <a:ext cx="10972800" cy="548640"/>
          </a:xfrm>
          <a:prstGeom prst="rect">
            <a:avLst/>
          </a:prstGeom>
          <a:noFill/>
        </p:spPr>
        <p:txBody>
          <a:bodyPr wrap="square" lIns="0" tIns="0" rIns="0" bIns="0" anchor="t">
            <a:spAutoFit/>
          </a:bodyPr>
          <a:lstStyle/>
          <a:p>
            <a:pPr algn="l"/>
            <a:r>
              <a:rPr sz="1500" b="1" i="0">
                <a:solidFill>
                  <a:srgbClr val="111827"/>
                </a:solidFill>
                <a:latin typeface="Plus Jakarta Sans"/>
              </a:rPr>
              <a:t>Memory per conversation: </a:t>
            </a:r>
            <a:r>
              <a:rPr sz="1500" b="0" i="0">
                <a:solidFill>
                  <a:srgbClr val="4B5563"/>
                </a:solidFill>
                <a:latin typeface="Plus Jakarta Sans"/>
              </a:rPr>
              <a:t>follow-ups like “Kitzingen” or “Is it free?” are understood in context.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ection label"/>
          <p:cNvSpPr txBox="1"/>
          <p:nvPr/>
        </p:nvSpPr>
        <p:spPr>
          <a:xfrm>
            <a:off x="612648" y="502920"/>
            <a:ext cx="10972800" cy="274320"/>
          </a:xfrm>
          <a:prstGeom prst="rect">
            <a:avLst/>
          </a:prstGeom>
          <a:noFill/>
        </p:spPr>
        <p:txBody>
          <a:bodyPr wrap="square" lIns="0" tIns="0" rIns="0" bIns="0" anchor="t">
            <a:spAutoFit/>
          </a:bodyPr>
          <a:lstStyle/>
          <a:p>
            <a:pPr algn="l"/>
            <a:r>
              <a:rPr sz="1550" b="1" i="0">
                <a:solidFill>
                  <a:srgbClr val="E3000F"/>
                </a:solidFill>
                <a:latin typeface="Plus Jakarta Sans"/>
              </a:rPr>
              <a:t>WHAT WENT WRONG</a:t>
            </a:r>
          </a:p>
        </p:txBody>
      </p:sp>
      <p:sp>
        <p:nvSpPr>
          <p:cNvPr id="3" name="Title"/>
          <p:cNvSpPr txBox="1"/>
          <p:nvPr/>
        </p:nvSpPr>
        <p:spPr>
          <a:xfrm>
            <a:off x="612648" y="868680"/>
            <a:ext cx="10972800" cy="640080"/>
          </a:xfrm>
          <a:prstGeom prst="rect">
            <a:avLst/>
          </a:prstGeom>
          <a:noFill/>
        </p:spPr>
        <p:txBody>
          <a:bodyPr wrap="square" lIns="0" tIns="0" rIns="0" bIns="0" anchor="t">
            <a:spAutoFit/>
          </a:bodyPr>
          <a:lstStyle/>
          <a:p>
            <a:pPr algn="l"/>
            <a:r>
              <a:rPr sz="3500" b="1" i="0">
                <a:solidFill>
                  <a:srgbClr val="111827"/>
                </a:solidFill>
                <a:latin typeface="Plus Jakarta Sans"/>
              </a:rPr>
              <a:t>Our failures – and how we fixed them</a:t>
            </a:r>
          </a:p>
        </p:txBody>
      </p:sp>
      <p:sp>
        <p:nvSpPr>
          <p:cNvPr id="4" name="Card"/>
          <p:cNvSpPr/>
          <p:nvPr/>
        </p:nvSpPr>
        <p:spPr>
          <a:xfrm>
            <a:off x="612648" y="1783080"/>
            <a:ext cx="5394960" cy="141732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ic.png"/>
          <p:cNvPicPr>
            <a:picLocks noChangeAspect="1"/>
          </p:cNvPicPr>
          <p:nvPr/>
        </p:nvPicPr>
        <p:blipFill>
          <a:blip r:embed="rId3"/>
          <a:stretch>
            <a:fillRect/>
          </a:stretch>
        </p:blipFill>
        <p:spPr>
          <a:xfrm>
            <a:off x="850392" y="2039112"/>
            <a:ext cx="292608" cy="292608"/>
          </a:xfrm>
          <a:prstGeom prst="rect">
            <a:avLst/>
          </a:prstGeom>
        </p:spPr>
      </p:pic>
      <p:sp>
        <p:nvSpPr>
          <p:cNvPr id="6" name="TextBox 5"/>
          <p:cNvSpPr txBox="1"/>
          <p:nvPr/>
        </p:nvSpPr>
        <p:spPr>
          <a:xfrm>
            <a:off x="1325880" y="2002536"/>
            <a:ext cx="4480560" cy="274320"/>
          </a:xfrm>
          <a:prstGeom prst="rect">
            <a:avLst/>
          </a:prstGeom>
          <a:noFill/>
        </p:spPr>
        <p:txBody>
          <a:bodyPr wrap="square" lIns="0" tIns="0" rIns="0" bIns="0" anchor="t">
            <a:spAutoFit/>
          </a:bodyPr>
          <a:lstStyle/>
          <a:p>
            <a:pPr algn="l"/>
            <a:r>
              <a:rPr sz="1500" b="1" i="0">
                <a:solidFill>
                  <a:srgbClr val="111827"/>
                </a:solidFill>
                <a:latin typeface="Plus Jakarta Sans"/>
              </a:rPr>
              <a:t>Whisper misheard German</a:t>
            </a:r>
          </a:p>
        </p:txBody>
      </p:sp>
      <p:sp>
        <p:nvSpPr>
          <p:cNvPr id="7" name="TextBox 6"/>
          <p:cNvSpPr txBox="1"/>
          <p:nvPr/>
        </p:nvSpPr>
        <p:spPr>
          <a:xfrm>
            <a:off x="1325880" y="2313432"/>
            <a:ext cx="4480560" cy="822960"/>
          </a:xfrm>
          <a:prstGeom prst="rect">
            <a:avLst/>
          </a:prstGeom>
          <a:noFill/>
        </p:spPr>
        <p:txBody>
          <a:bodyPr wrap="square" lIns="0" tIns="0" rIns="0" bIns="0" anchor="t">
            <a:spAutoFit/>
          </a:bodyPr>
          <a:lstStyle/>
          <a:p>
            <a:pPr algn="l">
              <a:spcAft>
                <a:spcPts val="200"/>
              </a:spcAft>
            </a:pPr>
            <a:r>
              <a:rPr sz="1250" b="0" i="0">
                <a:solidFill>
                  <a:srgbClr val="4B5563"/>
                </a:solidFill>
                <a:latin typeface="Plus Jakarta Sans"/>
              </a:rPr>
              <a:t>Local speech-to-text turned German into vague text.</a:t>
            </a:r>
          </a:p>
          <a:p>
            <a:pPr algn="l">
              <a:spcAft>
                <a:spcPts val="200"/>
              </a:spcAft>
            </a:pPr>
            <a:r>
              <a:rPr sz="1250" b="1" i="0">
                <a:solidFill>
                  <a:srgbClr val="E3000F"/>
                </a:solidFill>
                <a:latin typeface="Plus Jakarta Sans"/>
              </a:rPr>
              <a:t>Fix: </a:t>
            </a:r>
            <a:r>
              <a:rPr sz="1250" b="0" i="0">
                <a:solidFill>
                  <a:srgbClr val="4B5563"/>
                </a:solidFill>
                <a:latin typeface="Plus Jakarta Sans"/>
              </a:rPr>
              <a:t>Browser speech recognition in de-DE.</a:t>
            </a:r>
          </a:p>
        </p:txBody>
      </p:sp>
      <p:sp>
        <p:nvSpPr>
          <p:cNvPr id="8" name="Card"/>
          <p:cNvSpPr/>
          <p:nvPr/>
        </p:nvSpPr>
        <p:spPr>
          <a:xfrm>
            <a:off x="6190488" y="1783080"/>
            <a:ext cx="5394960" cy="141732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rain.png"/>
          <p:cNvPicPr>
            <a:picLocks noChangeAspect="1"/>
          </p:cNvPicPr>
          <p:nvPr/>
        </p:nvPicPr>
        <p:blipFill>
          <a:blip r:embed="rId4"/>
          <a:stretch>
            <a:fillRect/>
          </a:stretch>
        </p:blipFill>
        <p:spPr>
          <a:xfrm>
            <a:off x="6428231" y="2039112"/>
            <a:ext cx="292608" cy="292608"/>
          </a:xfrm>
          <a:prstGeom prst="rect">
            <a:avLst/>
          </a:prstGeom>
        </p:spPr>
      </p:pic>
      <p:sp>
        <p:nvSpPr>
          <p:cNvPr id="10" name="TextBox 9"/>
          <p:cNvSpPr txBox="1"/>
          <p:nvPr/>
        </p:nvSpPr>
        <p:spPr>
          <a:xfrm>
            <a:off x="6903720" y="2002536"/>
            <a:ext cx="4480560" cy="274320"/>
          </a:xfrm>
          <a:prstGeom prst="rect">
            <a:avLst/>
          </a:prstGeom>
          <a:noFill/>
        </p:spPr>
        <p:txBody>
          <a:bodyPr wrap="square" lIns="0" tIns="0" rIns="0" bIns="0" anchor="t">
            <a:spAutoFit/>
          </a:bodyPr>
          <a:lstStyle/>
          <a:p>
            <a:pPr algn="l"/>
            <a:r>
              <a:rPr sz="1500" b="1" i="0">
                <a:solidFill>
                  <a:srgbClr val="111827"/>
                </a:solidFill>
                <a:latin typeface="Plus Jakarta Sans"/>
              </a:rPr>
              <a:t>Small model: 75% accuracy</a:t>
            </a:r>
          </a:p>
        </p:txBody>
      </p:sp>
      <p:sp>
        <p:nvSpPr>
          <p:cNvPr id="11" name="TextBox 10"/>
          <p:cNvSpPr txBox="1"/>
          <p:nvPr/>
        </p:nvSpPr>
        <p:spPr>
          <a:xfrm>
            <a:off x="6903720" y="2313432"/>
            <a:ext cx="4480560" cy="822960"/>
          </a:xfrm>
          <a:prstGeom prst="rect">
            <a:avLst/>
          </a:prstGeom>
          <a:noFill/>
        </p:spPr>
        <p:txBody>
          <a:bodyPr wrap="square" lIns="0" tIns="0" rIns="0" bIns="0" anchor="t">
            <a:spAutoFit/>
          </a:bodyPr>
          <a:lstStyle/>
          <a:p>
            <a:pPr algn="l">
              <a:spcAft>
                <a:spcPts val="200"/>
              </a:spcAft>
            </a:pPr>
            <a:r>
              <a:rPr sz="1250" b="0" i="0">
                <a:solidFill>
                  <a:srgbClr val="4B5563"/>
                </a:solidFill>
                <a:latin typeface="Plus Jakarta Sans"/>
              </a:rPr>
              <a:t>The local 3B model mixed up similar services.</a:t>
            </a:r>
          </a:p>
          <a:p>
            <a:pPr algn="l">
              <a:spcAft>
                <a:spcPts val="200"/>
              </a:spcAft>
            </a:pPr>
            <a:r>
              <a:rPr sz="1250" b="1" i="0">
                <a:solidFill>
                  <a:srgbClr val="E3000F"/>
                </a:solidFill>
                <a:latin typeface="Plus Jakarta Sans"/>
              </a:rPr>
              <a:t>Fix: </a:t>
            </a:r>
            <a:r>
              <a:rPr sz="1250" b="0" i="0">
                <a:solidFill>
                  <a:srgbClr val="4B5563"/>
                </a:solidFill>
                <a:latin typeface="Plus Jakarta Sans"/>
              </a:rPr>
              <a:t>Free Groq model (95%) + backup key + offline fallback.</a:t>
            </a:r>
          </a:p>
        </p:txBody>
      </p:sp>
      <p:sp>
        <p:nvSpPr>
          <p:cNvPr id="12" name="Card"/>
          <p:cNvSpPr/>
          <p:nvPr/>
        </p:nvSpPr>
        <p:spPr>
          <a:xfrm>
            <a:off x="612648" y="3383280"/>
            <a:ext cx="5394960" cy="141732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broom.png"/>
          <p:cNvPicPr>
            <a:picLocks noChangeAspect="1"/>
          </p:cNvPicPr>
          <p:nvPr/>
        </p:nvPicPr>
        <p:blipFill>
          <a:blip r:embed="rId5"/>
          <a:stretch>
            <a:fillRect/>
          </a:stretch>
        </p:blipFill>
        <p:spPr>
          <a:xfrm>
            <a:off x="850392" y="3639312"/>
            <a:ext cx="292608" cy="292608"/>
          </a:xfrm>
          <a:prstGeom prst="rect">
            <a:avLst/>
          </a:prstGeom>
        </p:spPr>
      </p:pic>
      <p:sp>
        <p:nvSpPr>
          <p:cNvPr id="14" name="TextBox 13"/>
          <p:cNvSpPr txBox="1"/>
          <p:nvPr/>
        </p:nvSpPr>
        <p:spPr>
          <a:xfrm>
            <a:off x="1325880" y="3602736"/>
            <a:ext cx="4480560" cy="274320"/>
          </a:xfrm>
          <a:prstGeom prst="rect">
            <a:avLst/>
          </a:prstGeom>
          <a:noFill/>
        </p:spPr>
        <p:txBody>
          <a:bodyPr wrap="square" lIns="0" tIns="0" rIns="0" bIns="0" anchor="t">
            <a:spAutoFit/>
          </a:bodyPr>
          <a:lstStyle/>
          <a:p>
            <a:pPr algn="l"/>
            <a:r>
              <a:rPr sz="1500" b="1" i="0">
                <a:solidFill>
                  <a:srgbClr val="111827"/>
                </a:solidFill>
                <a:latin typeface="Plus Jakarta Sans"/>
              </a:rPr>
              <a:t>Messy website data</a:t>
            </a:r>
          </a:p>
        </p:txBody>
      </p:sp>
      <p:sp>
        <p:nvSpPr>
          <p:cNvPr id="15" name="TextBox 14"/>
          <p:cNvSpPr txBox="1"/>
          <p:nvPr/>
        </p:nvSpPr>
        <p:spPr>
          <a:xfrm>
            <a:off x="1325880" y="3913632"/>
            <a:ext cx="4480560" cy="822960"/>
          </a:xfrm>
          <a:prstGeom prst="rect">
            <a:avLst/>
          </a:prstGeom>
          <a:noFill/>
        </p:spPr>
        <p:txBody>
          <a:bodyPr wrap="square" lIns="0" tIns="0" rIns="0" bIns="0" anchor="t">
            <a:spAutoFit/>
          </a:bodyPr>
          <a:lstStyle/>
          <a:p>
            <a:pPr algn="l">
              <a:spcAft>
                <a:spcPts val="200"/>
              </a:spcAft>
            </a:pPr>
            <a:r>
              <a:rPr sz="1250" b="0" i="0">
                <a:solidFill>
                  <a:srgbClr val="4B5563"/>
                </a:solidFill>
                <a:latin typeface="Plus Jakarta Sans"/>
              </a:rPr>
              <a:t>Image credits as titles, missing phone numbers.</a:t>
            </a:r>
          </a:p>
          <a:p>
            <a:pPr algn="l">
              <a:spcAft>
                <a:spcPts val="200"/>
              </a:spcAft>
            </a:pPr>
            <a:r>
              <a:rPr sz="1250" b="1" i="0">
                <a:solidFill>
                  <a:srgbClr val="E3000F"/>
                </a:solidFill>
                <a:latin typeface="Plus Jakarta Sans"/>
              </a:rPr>
              <a:t>Fix: </a:t>
            </a:r>
            <a:r>
              <a:rPr sz="1250" b="0" i="0">
                <a:solidFill>
                  <a:srgbClr val="4B5563"/>
                </a:solidFill>
                <a:latin typeface="Plus Jakarta Sans"/>
              </a:rPr>
              <a:t>Cleaning rules – every filled value is flagged.</a:t>
            </a:r>
          </a:p>
        </p:txBody>
      </p:sp>
      <p:sp>
        <p:nvSpPr>
          <p:cNvPr id="16" name="Card"/>
          <p:cNvSpPr/>
          <p:nvPr/>
        </p:nvSpPr>
        <p:spPr>
          <a:xfrm>
            <a:off x="6190488" y="3383280"/>
            <a:ext cx="5394960" cy="1417320"/>
          </a:xfrm>
          <a:prstGeom prst="roundRect">
            <a:avLst>
              <a:gd name="adj" fmla="val 6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volume.png"/>
          <p:cNvPicPr>
            <a:picLocks noChangeAspect="1"/>
          </p:cNvPicPr>
          <p:nvPr/>
        </p:nvPicPr>
        <p:blipFill>
          <a:blip r:embed="rId6"/>
          <a:stretch>
            <a:fillRect/>
          </a:stretch>
        </p:blipFill>
        <p:spPr>
          <a:xfrm>
            <a:off x="6428231" y="3639312"/>
            <a:ext cx="292608" cy="292608"/>
          </a:xfrm>
          <a:prstGeom prst="rect">
            <a:avLst/>
          </a:prstGeom>
        </p:spPr>
      </p:pic>
      <p:sp>
        <p:nvSpPr>
          <p:cNvPr id="18" name="TextBox 17"/>
          <p:cNvSpPr txBox="1"/>
          <p:nvPr/>
        </p:nvSpPr>
        <p:spPr>
          <a:xfrm>
            <a:off x="6903720" y="3602736"/>
            <a:ext cx="4480560" cy="274320"/>
          </a:xfrm>
          <a:prstGeom prst="rect">
            <a:avLst/>
          </a:prstGeom>
          <a:noFill/>
        </p:spPr>
        <p:txBody>
          <a:bodyPr wrap="square" lIns="0" tIns="0" rIns="0" bIns="0" anchor="t">
            <a:spAutoFit/>
          </a:bodyPr>
          <a:lstStyle/>
          <a:p>
            <a:pPr algn="l"/>
            <a:r>
              <a:rPr sz="1500" b="1" i="0">
                <a:solidFill>
                  <a:srgbClr val="111827"/>
                </a:solidFill>
                <a:latin typeface="Plus Jakarta Sans"/>
              </a:rPr>
              <a:t>Voice slow or silent</a:t>
            </a:r>
          </a:p>
        </p:txBody>
      </p:sp>
      <p:sp>
        <p:nvSpPr>
          <p:cNvPr id="19" name="TextBox 18"/>
          <p:cNvSpPr txBox="1"/>
          <p:nvPr/>
        </p:nvSpPr>
        <p:spPr>
          <a:xfrm>
            <a:off x="6903720" y="3913632"/>
            <a:ext cx="4480560" cy="822960"/>
          </a:xfrm>
          <a:prstGeom prst="rect">
            <a:avLst/>
          </a:prstGeom>
          <a:noFill/>
        </p:spPr>
        <p:txBody>
          <a:bodyPr wrap="square" lIns="0" tIns="0" rIns="0" bIns="0" anchor="t">
            <a:spAutoFit/>
          </a:bodyPr>
          <a:lstStyle/>
          <a:p>
            <a:pPr algn="l">
              <a:spcAft>
                <a:spcPts val="200"/>
              </a:spcAft>
            </a:pPr>
            <a:r>
              <a:rPr sz="1250" b="0" i="0">
                <a:solidFill>
                  <a:srgbClr val="4B5563"/>
                </a:solidFill>
                <a:latin typeface="Plus Jakarta Sans"/>
              </a:rPr>
              <a:t>The online voice took up to 20 s or failed.</a:t>
            </a:r>
          </a:p>
          <a:p>
            <a:pPr algn="l">
              <a:spcAft>
                <a:spcPts val="200"/>
              </a:spcAft>
            </a:pPr>
            <a:r>
              <a:rPr sz="1250" b="1" i="0">
                <a:solidFill>
                  <a:srgbClr val="E3000F"/>
                </a:solidFill>
                <a:latin typeface="Plus Jakarta Sans"/>
              </a:rPr>
              <a:t>Fix: </a:t>
            </a:r>
            <a:r>
              <a:rPr sz="1250" b="0" i="0">
                <a:solidFill>
                  <a:srgbClr val="4B5563"/>
                </a:solidFill>
                <a:latin typeface="Plus Jakarta Sans"/>
              </a:rPr>
              <a:t>Streamed audio + instant offline voice (&lt; 1 s).</a:t>
            </a:r>
          </a:p>
        </p:txBody>
      </p:sp>
      <p:sp>
        <p:nvSpPr>
          <p:cNvPr id="20" name="Team box"/>
          <p:cNvSpPr/>
          <p:nvPr/>
        </p:nvSpPr>
        <p:spPr>
          <a:xfrm>
            <a:off x="612648" y="5120640"/>
            <a:ext cx="10972800" cy="868680"/>
          </a:xfrm>
          <a:prstGeom prst="roundRect">
            <a:avLst>
              <a:gd name="adj" fmla="val 6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users_white.png"/>
          <p:cNvPicPr>
            <a:picLocks noChangeAspect="1"/>
          </p:cNvPicPr>
          <p:nvPr/>
        </p:nvPicPr>
        <p:blipFill>
          <a:blip r:embed="rId7"/>
          <a:stretch>
            <a:fillRect/>
          </a:stretch>
        </p:blipFill>
        <p:spPr>
          <a:xfrm>
            <a:off x="868680" y="5385816"/>
            <a:ext cx="329184" cy="329184"/>
          </a:xfrm>
          <a:prstGeom prst="rect">
            <a:avLst/>
          </a:prstGeom>
        </p:spPr>
      </p:pic>
      <p:sp>
        <p:nvSpPr>
          <p:cNvPr id="22" name="TextBox 21"/>
          <p:cNvSpPr txBox="1"/>
          <p:nvPr/>
        </p:nvSpPr>
        <p:spPr>
          <a:xfrm>
            <a:off x="1371600" y="5285232"/>
            <a:ext cx="4937760" cy="548640"/>
          </a:xfrm>
          <a:prstGeom prst="rect">
            <a:avLst/>
          </a:prstGeom>
          <a:noFill/>
        </p:spPr>
        <p:txBody>
          <a:bodyPr wrap="square" lIns="0" tIns="0" rIns="0" bIns="0" anchor="t">
            <a:spAutoFit/>
          </a:bodyPr>
          <a:lstStyle/>
          <a:p>
            <a:pPr algn="l"/>
            <a:r>
              <a:rPr sz="1300" b="1" i="0">
                <a:solidFill>
                  <a:srgbClr val="FFFFFF"/>
                </a:solidFill>
                <a:latin typeface="Plus Jakarta Sans"/>
              </a:rPr>
              <a:t>Team of 5</a:t>
            </a:r>
          </a:p>
          <a:p>
            <a:pPr algn="l"/>
            <a:r>
              <a:rPr sz="1300" b="0" i="0">
                <a:solidFill>
                  <a:srgbClr val="CBD5E1"/>
                </a:solidFill>
                <a:latin typeface="Plus Jakarta Sans"/>
              </a:rPr>
              <a:t>Frontend 2 · Backend &amp; LLM 2 · Whisper voice &amp; pitch 1</a:t>
            </a:r>
          </a:p>
        </p:txBody>
      </p:sp>
      <p:pic>
        <p:nvPicPr>
          <p:cNvPr id="23" name="Picture 22" descr="github_white.png"/>
          <p:cNvPicPr>
            <a:picLocks noChangeAspect="1"/>
          </p:cNvPicPr>
          <p:nvPr/>
        </p:nvPicPr>
        <p:blipFill>
          <a:blip r:embed="rId8"/>
          <a:stretch>
            <a:fillRect/>
          </a:stretch>
        </p:blipFill>
        <p:spPr>
          <a:xfrm>
            <a:off x="6446520" y="5385816"/>
            <a:ext cx="329184" cy="329184"/>
          </a:xfrm>
          <a:prstGeom prst="rect">
            <a:avLst/>
          </a:prstGeom>
        </p:spPr>
      </p:pic>
      <p:sp>
        <p:nvSpPr>
          <p:cNvPr id="24" name="TextBox 23"/>
          <p:cNvSpPr txBox="1"/>
          <p:nvPr/>
        </p:nvSpPr>
        <p:spPr>
          <a:xfrm>
            <a:off x="6949440" y="5285232"/>
            <a:ext cx="4480560" cy="548640"/>
          </a:xfrm>
          <a:prstGeom prst="rect">
            <a:avLst/>
          </a:prstGeom>
          <a:noFill/>
        </p:spPr>
        <p:txBody>
          <a:bodyPr wrap="square" lIns="0" tIns="0" rIns="0" bIns="0" anchor="t">
            <a:spAutoFit/>
          </a:bodyPr>
          <a:lstStyle/>
          <a:p>
            <a:pPr algn="l"/>
            <a:r>
              <a:rPr sz="1300" b="1" i="0">
                <a:solidFill>
                  <a:srgbClr val="FFFFFF"/>
                </a:solidFill>
                <a:latin typeface="Plus Jakarta Sans"/>
              </a:rPr>
              <a:t>One shared GitHub repository</a:t>
            </a:r>
          </a:p>
          <a:p>
            <a:pPr algn="l"/>
            <a:r>
              <a:rPr sz="1300" b="0" i="0">
                <a:solidFill>
                  <a:srgbClr val="CBD5E1"/>
                </a:solidFill>
                <a:latin typeface="Plus Jakarta Sans"/>
              </a:rPr>
              <a:t>Feature branches, merged together – one codebase for 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164"/>
        <p:cNvGrpSpPr/>
        <p:nvPr/>
      </p:nvGrpSpPr>
      <p:grpSpPr>
        <a:xfrm>
          <a:off x="0" y="0"/>
          <a:ext cx="0" cy="0"/>
          <a:chOff x="0" y="0"/>
          <a:chExt cx="0" cy="0"/>
        </a:xfrm>
      </p:grpSpPr>
      <p:sp>
        <p:nvSpPr>
          <p:cNvPr id="165" name="Google Shape;165;p17"/>
          <p:cNvSpPr/>
          <p:nvPr/>
        </p:nvSpPr>
        <p:spPr>
          <a:xfrm>
            <a:off x="5048250" y="4309020"/>
            <a:ext cx="2095500" cy="485775"/>
          </a:xfrm>
          <a:prstGeom prst="roundRect">
            <a:avLst>
              <a:gd name="adj" fmla="val 50000"/>
            </a:avLst>
          </a:prstGeom>
          <a:solidFill>
            <a:srgbClr val="E3000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6" name="Google Shape;166;p17" descr="image.png"/>
          <p:cNvPicPr preferRelativeResize="0"/>
          <p:nvPr/>
        </p:nvPicPr>
        <p:blipFill rotWithShape="1">
          <a:blip r:embed="rId3">
            <a:alphaModFix/>
          </a:blip>
          <a:srcRect/>
          <a:stretch/>
        </p:blipFill>
        <p:spPr>
          <a:xfrm>
            <a:off x="5838825" y="2063055"/>
            <a:ext cx="514350" cy="457200"/>
          </a:xfrm>
          <a:prstGeom prst="rect">
            <a:avLst/>
          </a:prstGeom>
          <a:noFill/>
          <a:ln>
            <a:noFill/>
          </a:ln>
        </p:spPr>
      </p:pic>
      <p:sp>
        <p:nvSpPr>
          <p:cNvPr id="167" name="Google Shape;167;p17"/>
          <p:cNvSpPr txBox="1"/>
          <p:nvPr/>
        </p:nvSpPr>
        <p:spPr>
          <a:xfrm>
            <a:off x="4345781" y="2710755"/>
            <a:ext cx="3500437" cy="690189"/>
          </a:xfrm>
          <a:prstGeom prst="rect">
            <a:avLst/>
          </a:prstGeom>
          <a:noFill/>
          <a:ln>
            <a:noFill/>
          </a:ln>
        </p:spPr>
        <p:txBody>
          <a:bodyPr spcFirstLastPara="1" wrap="square" lIns="0" tIns="0" rIns="0" bIns="0" anchor="t" anchorCtr="0">
            <a:spAutoFit/>
          </a:bodyPr>
          <a:lstStyle/>
          <a:p>
            <a:pPr marL="0" marR="0" lvl="0" indent="0" algn="ctr" rtl="0">
              <a:lnSpc>
                <a:spcPct val="114974"/>
              </a:lnSpc>
              <a:spcBef>
                <a:spcPts val="0"/>
              </a:spcBef>
              <a:spcAft>
                <a:spcPts val="0"/>
              </a:spcAft>
              <a:buNone/>
            </a:pPr>
            <a:r>
              <a:rPr lang="en-US" sz="3900" b="1" i="0" u="none" strike="noStrike" cap="none" dirty="0">
                <a:solidFill>
                  <a:srgbClr val="FF0000"/>
                </a:solidFill>
                <a:latin typeface="Plus Jakarta Sans"/>
                <a:ea typeface="Plus Jakarta Sans"/>
                <a:cs typeface="Plus Jakarta Sans"/>
                <a:sym typeface="Plus Jakarta Sans"/>
              </a:rPr>
              <a:t>CaritAs</a:t>
            </a:r>
            <a:r>
              <a:rPr lang="en-US" sz="3900" b="1" i="0" u="none" strike="noStrike" cap="none" dirty="0">
                <a:solidFill>
                  <a:srgbClr val="FFFFFF"/>
                </a:solidFill>
                <a:latin typeface="Plus Jakarta Sans"/>
                <a:ea typeface="Plus Jakarta Sans"/>
                <a:cs typeface="Plus Jakarta Sans"/>
                <a:sym typeface="Plus Jakarta Sans"/>
              </a:rPr>
              <a:t>sist</a:t>
            </a:r>
            <a:endParaRPr dirty="0"/>
          </a:p>
        </p:txBody>
      </p:sp>
      <p:sp>
        <p:nvSpPr>
          <p:cNvPr id="168" name="Google Shape;168;p17"/>
          <p:cNvSpPr txBox="1"/>
          <p:nvPr/>
        </p:nvSpPr>
        <p:spPr>
          <a:xfrm>
            <a:off x="2226468" y="3432720"/>
            <a:ext cx="7739100" cy="5079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chemeClr val="lt1"/>
                </a:solidFill>
                <a:latin typeface="Plus Jakarta Sans"/>
                <a:ea typeface="Plus Jakarta Sans"/>
                <a:cs typeface="Plus Jakarta Sans"/>
                <a:sym typeface="Plus Jakarta Sans"/>
              </a:rPr>
              <a:t>Connecting people in distress to local Caritas support — instantly and accurately.</a:t>
            </a:r>
            <a:endParaRPr>
              <a:solidFill>
                <a:schemeClr val="lt1"/>
              </a:solidFill>
            </a:endParaRPr>
          </a:p>
        </p:txBody>
      </p:sp>
      <p:sp>
        <p:nvSpPr>
          <p:cNvPr id="169" name="Google Shape;169;p17"/>
          <p:cNvSpPr txBox="1"/>
          <p:nvPr/>
        </p:nvSpPr>
        <p:spPr>
          <a:xfrm>
            <a:off x="5091112" y="4442370"/>
            <a:ext cx="200977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1" i="0" u="none" strike="noStrike" cap="none">
                <a:solidFill>
                  <a:srgbClr val="FFFFFF"/>
                </a:solidFill>
                <a:latin typeface="Plus Jakarta Sans"/>
                <a:ea typeface="Plus Jakarta Sans"/>
                <a:cs typeface="Plus Jakarta Sans"/>
                <a:sym typeface="Plus Jakarta Sans"/>
              </a:rPr>
              <a:t>Vielen Dank! Q&amp;A</a:t>
            </a:r>
            <a:endParaRPr/>
          </a:p>
        </p:txBody>
      </p:sp>
      <p:sp>
        <p:nvSpPr>
          <p:cNvPr id="170" name="TextBox 169"/>
          <p:cNvSpPr txBox="1"/>
          <p:nvPr/>
        </p:nvSpPr>
        <p:spPr>
          <a:xfrm>
            <a:off x="2221992" y="5120640"/>
            <a:ext cx="7735824" cy="274320"/>
          </a:xfrm>
          <a:prstGeom prst="rect">
            <a:avLst/>
          </a:prstGeom>
          <a:noFill/>
        </p:spPr>
        <p:txBody>
          <a:bodyPr wrap="square" lIns="0" tIns="0" rIns="0" bIns="0" anchor="t">
            <a:spAutoFit/>
          </a:bodyPr>
          <a:lstStyle/>
          <a:p>
            <a:pPr algn="ctr"/>
            <a:r>
              <a:rPr sz="1200" b="0" i="0">
                <a:solidFill>
                  <a:srgbClr val="94A3B8"/>
                </a:solidFill>
                <a:latin typeface="Plus Jakarta Sans"/>
              </a:rPr>
              <a:t>github.com/Adigateway/InclusivAI_voiceassist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1033</Words>
  <Application>Microsoft Macintosh PowerPoint</Application>
  <PresentationFormat>Widescreen</PresentationFormat>
  <Paragraphs>82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Adiraju, Aditya Srivatsa</cp:lastModifiedBy>
  <cp:revision>2</cp:revision>
  <dcterms:modified xsi:type="dcterms:W3CDTF">2026-10-29T15:20:49Z</dcterms:modified>
</cp:coreProperties>
</file>